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6B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0"/>
            <a:ext cx="4572000" cy="6858000"/>
          </a:xfrm>
          <a:prstGeom prst="rect">
            <a:avLst/>
          </a:prstGeom>
          <a:solidFill>
            <a:srgbClr val="237B75">
              <a:alpha val="92000"/>
            </a:srgbClr>
          </a:solidFill>
          <a:ln w="12700">
            <a:solidFill>
              <a:srgbClr val="237B7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F4F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日本糖尿病学会年次学術集会 紹介用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7040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ICTが得意でなくても\n患者さんとつながれる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21792" y="2788920"/>
            <a:ext cx="6126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FF4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LINEを使った安否・症状確認システム\nMedSafety Link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321040" y="868680"/>
            <a:ext cx="2514600" cy="3657600"/>
          </a:xfrm>
          <a:prstGeom prst="roundRect">
            <a:avLst>
              <a:gd name="adj" fmla="val 654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30768" y="978408"/>
            <a:ext cx="2295144" cy="3438144"/>
          </a:xfrm>
          <a:prstGeom prst="roundRect">
            <a:avLst>
              <a:gd name="adj" fmla="val 4781"/>
            </a:avLst>
          </a:prstGeom>
          <a:solidFill>
            <a:srgbClr val="EEF7F4"/>
          </a:solidFill>
          <a:ln w="12700">
            <a:solidFill>
              <a:srgbClr val="EEF7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77072" y="1161288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7B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患者さんのLINE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622792" y="1527048"/>
            <a:ext cx="1911096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759952" y="1673352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【安否確認】現在の状況を選んでください。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8759952" y="2084832"/>
            <a:ext cx="987552" cy="310896"/>
          </a:xfrm>
          <a:prstGeom prst="roundRect">
            <a:avLst>
              <a:gd name="adj" fmla="val 23529"/>
            </a:avLst>
          </a:prstGeom>
          <a:solidFill>
            <a:srgbClr val="DFF4ED"/>
          </a:solidFill>
          <a:ln w="12700">
            <a:solidFill>
              <a:srgbClr val="DFF4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23960" y="2153412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37B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無事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9930384" y="2084832"/>
            <a:ext cx="987552" cy="310896"/>
          </a:xfrm>
          <a:prstGeom prst="roundRect">
            <a:avLst>
              <a:gd name="adj" fmla="val 23529"/>
            </a:avLst>
          </a:prstGeom>
          <a:solidFill>
            <a:srgbClr val="DFF4ED"/>
          </a:solidFill>
          <a:ln w="12700">
            <a:solidFill>
              <a:srgbClr val="DFF4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94392" y="2153412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37B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体調不良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8759952" y="2414016"/>
            <a:ext cx="987552" cy="310896"/>
          </a:xfrm>
          <a:prstGeom prst="roundRect">
            <a:avLst>
              <a:gd name="adj" fmla="val 23529"/>
            </a:avLst>
          </a:prstGeom>
          <a:solidFill>
            <a:srgbClr val="DFF4ED"/>
          </a:solidFill>
          <a:ln w="12700">
            <a:solidFill>
              <a:srgbClr val="DFF4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23960" y="2482596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37B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薬不足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9930384" y="2414016"/>
            <a:ext cx="987552" cy="310896"/>
          </a:xfrm>
          <a:prstGeom prst="roundRect">
            <a:avLst>
              <a:gd name="adj" fmla="val 23529"/>
            </a:avLst>
          </a:prstGeom>
          <a:solidFill>
            <a:srgbClr val="DFF4ED"/>
          </a:solidFill>
          <a:ln w="12700">
            <a:solidFill>
              <a:srgbClr val="DFF4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94392" y="2482596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37B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至急連絡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8622792" y="3081528"/>
            <a:ext cx="191109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759952" y="3282696"/>
            <a:ext cx="1636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ボタンを押すだけで回答完了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5532120" y="425196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760720" y="4416552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6B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医療者画面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88152" y="4892040"/>
            <a:ext cx="1508760" cy="841248"/>
          </a:xfrm>
          <a:prstGeom prst="roundRect">
            <a:avLst>
              <a:gd name="adj" fmla="val 8696"/>
            </a:avLst>
          </a:prstGeom>
          <a:solidFill>
            <a:srgbClr val="FBFD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879592" y="5020056"/>
            <a:ext cx="1447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回答済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5879592" y="5239512"/>
            <a:ext cx="144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8A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86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388352" y="4892040"/>
            <a:ext cx="1508760" cy="841248"/>
          </a:xfrm>
          <a:prstGeom prst="roundRect">
            <a:avLst>
              <a:gd name="adj" fmla="val 8696"/>
            </a:avLst>
          </a:prstGeom>
          <a:solidFill>
            <a:srgbClr val="FBFD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479792" y="5020056"/>
            <a:ext cx="1447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未回答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7479792" y="5239512"/>
            <a:ext cx="144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18B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34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8988552" y="4892040"/>
            <a:ext cx="1508760" cy="841248"/>
          </a:xfrm>
          <a:prstGeom prst="roundRect">
            <a:avLst>
              <a:gd name="adj" fmla="val 8696"/>
            </a:avLst>
          </a:prstGeom>
          <a:solidFill>
            <a:srgbClr val="FFF4F2"/>
          </a:solidFill>
          <a:ln w="12700">
            <a:solidFill>
              <a:srgbClr val="F1BBB8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079992" y="5020056"/>
            <a:ext cx="1447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要対応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9079992" y="5239512"/>
            <a:ext cx="144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34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5852160" y="6080760"/>
            <a:ext cx="4800600" cy="457200"/>
          </a:xfrm>
          <a:prstGeom prst="roundRect">
            <a:avLst>
              <a:gd name="adj" fmla="val 12000"/>
            </a:avLst>
          </a:prstGeom>
          <a:solidFill>
            <a:srgbClr val="FFF4F2"/>
          </a:solidFill>
          <a:ln w="12700">
            <a:solidFill>
              <a:srgbClr val="F1BB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6227064"/>
            <a:ext cx="4434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34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重症アラートを上に表示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1792" y="61447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熊本中央病院 糖尿病・内分泌・代謝内科　西田 健朗</a:t>
            </a:r>
            <a:endParaRPr lang="en-US" sz="9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6B9A"/>
          </a:solidFill>
          <a:ln w="12700">
            <a:solidFill>
              <a:srgbClr val="176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834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まず伝えたいこと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11064240" y="2651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これは“難しいICTシステム”ではなく、LINEで患者さんの状況を見る仕組みです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21792" y="1325880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患者さん側は普段のLINE、医療者側は一覧画面を見るだけ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" y="1874520"/>
            <a:ext cx="31546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947672" y="2176272"/>
            <a:ext cx="804672" cy="804672"/>
          </a:xfrm>
          <a:prstGeom prst="ellipse">
            <a:avLst/>
          </a:prstGeom>
          <a:solidFill>
            <a:srgbClr val="237B75"/>
          </a:solidFill>
          <a:ln w="12700">
            <a:solidFill>
              <a:srgbClr val="237B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2461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7B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患者さん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373075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LINEに届いた質問に\nボタンで回答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480560" y="1874520"/>
            <a:ext cx="31546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50992" y="2176272"/>
            <a:ext cx="804672" cy="804672"/>
          </a:xfrm>
          <a:prstGeom prst="ellipse">
            <a:avLst/>
          </a:prstGeom>
          <a:solidFill>
            <a:srgbClr val="176B9A"/>
          </a:solidFill>
          <a:ln w="12700">
            <a:solidFill>
              <a:srgbClr val="176B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32461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6B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医療者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00600" y="373075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回答済・未回答・要対応を\n一覧で確認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183880" y="1874520"/>
            <a:ext cx="31546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354312" y="2176272"/>
            <a:ext cx="804672" cy="804672"/>
          </a:xfrm>
          <a:prstGeom prst="ellipse">
            <a:avLst/>
          </a:prstGeom>
          <a:solidFill>
            <a:srgbClr val="E18B2D"/>
          </a:solidFill>
          <a:ln w="12700">
            <a:solidFill>
              <a:srgbClr val="E18B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32461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8B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03920" y="373075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患者登録と送信履歴を\n画面で管理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60120" y="565099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F8A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ポイント: 患者さんにも医療者にも、新しい専用アプリを覚えてもらわない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6B9A"/>
          </a:solidFill>
          <a:ln w="12700">
            <a:solidFill>
              <a:srgbClr val="176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834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現場の困りごと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11064240" y="2651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災害時・時間外・電話集中時に、全員へ電話するのは難しい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21792" y="1325880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必要なのは、全員に同じ手間をかけることではなく、要対応者を早く見つけること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14400" y="1691640"/>
            <a:ext cx="10332720" cy="914400"/>
          </a:xfrm>
          <a:prstGeom prst="roundRect">
            <a:avLst>
              <a:gd name="adj" fmla="val 8000"/>
            </a:avLst>
          </a:prstGeom>
          <a:solidFill>
            <a:srgbClr val="EAF6F3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70432" y="1819656"/>
            <a:ext cx="658368" cy="658368"/>
          </a:xfrm>
          <a:prstGeom prst="ellipse">
            <a:avLst/>
          </a:prstGeom>
          <a:solidFill>
            <a:srgbClr val="C9342D"/>
          </a:solidFill>
          <a:ln w="12700">
            <a:solidFill>
              <a:srgbClr val="C934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00253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93392" y="18562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電話がつながらない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709160" y="18562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災害時や時間外は電話が集中し、安否確認が進みにくい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2926080"/>
            <a:ext cx="10332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170432" y="3054096"/>
            <a:ext cx="658368" cy="658368"/>
          </a:xfrm>
          <a:prstGeom prst="ellipse">
            <a:avLst/>
          </a:prstGeom>
          <a:solidFill>
            <a:srgbClr val="E18B2D"/>
          </a:solidFill>
          <a:ln w="12700">
            <a:solidFill>
              <a:srgbClr val="E18B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323697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93392" y="30906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誰が未回答か分からない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709160" y="30906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紙や個別メモでは、全体像の把握に時間がかかる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4160520"/>
            <a:ext cx="10332720" cy="914400"/>
          </a:xfrm>
          <a:prstGeom prst="roundRect">
            <a:avLst>
              <a:gd name="adj" fmla="val 8000"/>
            </a:avLst>
          </a:prstGeom>
          <a:solidFill>
            <a:srgbClr val="EAF6F3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170432" y="4288536"/>
            <a:ext cx="658368" cy="658368"/>
          </a:xfrm>
          <a:prstGeom prst="ellipse">
            <a:avLst/>
          </a:prstGeom>
          <a:solidFill>
            <a:srgbClr val="176B9A"/>
          </a:solidFill>
          <a:ln w="12700">
            <a:solidFill>
              <a:srgbClr val="176B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44714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93392" y="43251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要対応者を見落としやすい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709160" y="43251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低血糖、薬剤不足、通院困難などを優先したい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6B9A"/>
          </a:solidFill>
          <a:ln w="12700">
            <a:solidFill>
              <a:srgbClr val="176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834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患者さん側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11064240" y="2651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患者さんは、LINEで届いたメッセージにボタンで答えるだけ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21792" y="1325880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高齢者やICTに不慣れな患者さんにも説明しやすい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60120" y="1417320"/>
            <a:ext cx="2926080" cy="4206240"/>
          </a:xfrm>
          <a:prstGeom prst="roundRect">
            <a:avLst>
              <a:gd name="adj" fmla="val 562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9848" y="1527048"/>
            <a:ext cx="2706624" cy="3986784"/>
          </a:xfrm>
          <a:prstGeom prst="roundRect">
            <a:avLst>
              <a:gd name="adj" fmla="val 4054"/>
            </a:avLst>
          </a:prstGeom>
          <a:solidFill>
            <a:srgbClr val="EEF7F4"/>
          </a:solidFill>
          <a:ln w="12700">
            <a:solidFill>
              <a:srgbClr val="EEF7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6152" y="170992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7B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患者さんのLINE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261872" y="2075688"/>
            <a:ext cx="2322576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99032" y="2221992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【安否確認】現在の状況を選んでください。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1399032" y="2633472"/>
            <a:ext cx="987552" cy="310896"/>
          </a:xfrm>
          <a:prstGeom prst="roundRect">
            <a:avLst>
              <a:gd name="adj" fmla="val 23529"/>
            </a:avLst>
          </a:prstGeom>
          <a:solidFill>
            <a:srgbClr val="DFF4ED"/>
          </a:solidFill>
          <a:ln w="12700">
            <a:solidFill>
              <a:srgbClr val="DFF4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2702052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37B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無事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2569464" y="2633472"/>
            <a:ext cx="987552" cy="310896"/>
          </a:xfrm>
          <a:prstGeom prst="roundRect">
            <a:avLst>
              <a:gd name="adj" fmla="val 23529"/>
            </a:avLst>
          </a:prstGeom>
          <a:solidFill>
            <a:srgbClr val="DFF4ED"/>
          </a:solidFill>
          <a:ln w="12700">
            <a:solidFill>
              <a:srgbClr val="DFF4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33472" y="2702052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37B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体調不良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1399032" y="2962656"/>
            <a:ext cx="987552" cy="310896"/>
          </a:xfrm>
          <a:prstGeom prst="roundRect">
            <a:avLst>
              <a:gd name="adj" fmla="val 23529"/>
            </a:avLst>
          </a:prstGeom>
          <a:solidFill>
            <a:srgbClr val="DFF4ED"/>
          </a:solidFill>
          <a:ln w="12700">
            <a:solidFill>
              <a:srgbClr val="DFF4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3031236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37B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薬不足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2569464" y="2962656"/>
            <a:ext cx="987552" cy="310896"/>
          </a:xfrm>
          <a:prstGeom prst="roundRect">
            <a:avLst>
              <a:gd name="adj" fmla="val 23529"/>
            </a:avLst>
          </a:prstGeom>
          <a:solidFill>
            <a:srgbClr val="DFF4ED"/>
          </a:solidFill>
          <a:ln w="12700">
            <a:solidFill>
              <a:srgbClr val="DFF4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33472" y="3031236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37B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至急連絡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1261872" y="3630168"/>
            <a:ext cx="232257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399032" y="3831336"/>
            <a:ext cx="2048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ボタンを押すだけで回答完了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4617720" y="169164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82312" y="1847088"/>
            <a:ext cx="658368" cy="658368"/>
          </a:xfrm>
          <a:prstGeom prst="ellipse">
            <a:avLst/>
          </a:prstGeom>
          <a:solidFill>
            <a:srgbClr val="176B9A"/>
          </a:solidFill>
          <a:ln w="12700">
            <a:solidFill>
              <a:srgbClr val="176B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82312" y="2029968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18562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友だち追加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0" y="216712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QRコードからLINE公式アカウントを追加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7772400" y="169164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936992" y="1847088"/>
            <a:ext cx="658368" cy="658368"/>
          </a:xfrm>
          <a:prstGeom prst="ellipse">
            <a:avLst/>
          </a:prstGeom>
          <a:solidFill>
            <a:srgbClr val="237B75"/>
          </a:solidFill>
          <a:ln w="12700">
            <a:solidFill>
              <a:srgbClr val="237B7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36992" y="2029968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41080" y="18562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メッセージ受信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641080" y="216712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安否確認や症状確認がLINEに届く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4617720" y="310896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82312" y="3264408"/>
            <a:ext cx="658368" cy="658368"/>
          </a:xfrm>
          <a:prstGeom prst="ellipse">
            <a:avLst/>
          </a:prstGeom>
          <a:solidFill>
            <a:srgbClr val="176B9A"/>
          </a:solidFill>
          <a:ln w="12700">
            <a:solidFill>
              <a:srgbClr val="176B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82312" y="3447288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0" y="327355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ボタン回答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0" y="358444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文字入力が苦手でも状況を伝えられる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7772400" y="310896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936992" y="3264408"/>
            <a:ext cx="658368" cy="658368"/>
          </a:xfrm>
          <a:prstGeom prst="ellipse">
            <a:avLst/>
          </a:prstGeom>
          <a:solidFill>
            <a:srgbClr val="237B75"/>
          </a:solidFill>
          <a:ln w="12700">
            <a:solidFill>
              <a:srgbClr val="237B7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36992" y="3447288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641080" y="327355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必要時だけ追加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641080" y="358444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写真や位置情報も送れる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4709160" y="5074920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934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緊急時はLINEではなく、電話・救急外来受診を案内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6B9A"/>
          </a:solidFill>
          <a:ln w="12700">
            <a:solidFill>
              <a:srgbClr val="176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834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医療者側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11064240" y="2651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医療者は、ダッシュボードで“対応が必要な人”から見る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21792" y="1325880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回答済・未回答・緊急未対応を一画面で確認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1417320"/>
            <a:ext cx="512064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158191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6B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医療者画面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78992" y="2057400"/>
            <a:ext cx="1402080" cy="841248"/>
          </a:xfrm>
          <a:prstGeom prst="roundRect">
            <a:avLst>
              <a:gd name="adj" fmla="val 8696"/>
            </a:avLst>
          </a:prstGeom>
          <a:solidFill>
            <a:srgbClr val="FBFD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70432" y="2185416"/>
            <a:ext cx="1341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回答済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1170432" y="2404872"/>
            <a:ext cx="134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8A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86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572512" y="2057400"/>
            <a:ext cx="1402080" cy="841248"/>
          </a:xfrm>
          <a:prstGeom prst="roundRect">
            <a:avLst>
              <a:gd name="adj" fmla="val 8696"/>
            </a:avLst>
          </a:prstGeom>
          <a:solidFill>
            <a:srgbClr val="FBFD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63952" y="2185416"/>
            <a:ext cx="1341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未回答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2663952" y="2404872"/>
            <a:ext cx="134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18B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34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066032" y="2057400"/>
            <a:ext cx="1402080" cy="841248"/>
          </a:xfrm>
          <a:prstGeom prst="roundRect">
            <a:avLst>
              <a:gd name="adj" fmla="val 8696"/>
            </a:avLst>
          </a:prstGeom>
          <a:solidFill>
            <a:srgbClr val="FFF4F2"/>
          </a:solidFill>
          <a:ln w="12700">
            <a:solidFill>
              <a:srgbClr val="F1BBB8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57472" y="2185416"/>
            <a:ext cx="1341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要対応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157472" y="2404872"/>
            <a:ext cx="134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34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143000" y="3246120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FFF4F2"/>
          </a:solidFill>
          <a:ln w="12700">
            <a:solidFill>
              <a:srgbClr val="F1BB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3392424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34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重症アラートを上に表示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00800" y="1508760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EAF6F3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29400" y="165506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6B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未回答再送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01000" y="1645920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返事がない患者さんに再送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6400800" y="2377440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29400" y="252374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6B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重症アラート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001000" y="2514600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低血糖・薬剤不足・至急連絡希望を上に表示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6400800" y="3246120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EAF6F3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629400" y="339242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6B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個別送信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001000" y="3383280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必要な患者さんへ個別に連絡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6400800" y="4114800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629400" y="426110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6B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履歴保存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001000" y="4251960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誰に何を送ったか、どんな回答かを記録</a:t>
            </a:r>
            <a:endParaRPr lang="en-US" sz="9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6B9A"/>
          </a:solidFill>
          <a:ln w="12700">
            <a:solidFill>
              <a:srgbClr val="176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834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災害時の使い方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11064240" y="2651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災害時は、電話を始める前に全体状況をつかむ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21792" y="1325880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LINEで一次スクリーニングし、電話や受診調整は必要な患者さんへ集中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1965960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64208" y="2267712"/>
            <a:ext cx="658368" cy="658368"/>
          </a:xfrm>
          <a:prstGeom prst="ellipse">
            <a:avLst/>
          </a:prstGeom>
          <a:solidFill>
            <a:srgbClr val="176B9A"/>
          </a:solidFill>
          <a:ln w="12700">
            <a:solidFill>
              <a:srgbClr val="176B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64208" y="2450592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310896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対象患者へ\n一斉送信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18688" y="2999232"/>
            <a:ext cx="301752" cy="0"/>
          </a:xfrm>
          <a:prstGeom prst="line">
            <a:avLst/>
          </a:prstGeom>
          <a:noFill/>
          <a:ln w="27940">
            <a:solidFill>
              <a:srgbClr val="237B7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566160" y="1965960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07408" y="2267712"/>
            <a:ext cx="658368" cy="658368"/>
          </a:xfrm>
          <a:prstGeom prst="ellipse">
            <a:avLst/>
          </a:prstGeom>
          <a:solidFill>
            <a:srgbClr val="237B75"/>
          </a:solidFill>
          <a:ln w="12700">
            <a:solidFill>
              <a:srgbClr val="237B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7408" y="2450592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86200" y="310896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患者さんが\nボタンで回答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61888" y="2999232"/>
            <a:ext cx="301752" cy="0"/>
          </a:xfrm>
          <a:prstGeom prst="line">
            <a:avLst/>
          </a:prstGeom>
          <a:noFill/>
          <a:ln w="27940">
            <a:solidFill>
              <a:srgbClr val="237B7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09360" y="1965960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50608" y="2267712"/>
            <a:ext cx="658368" cy="658368"/>
          </a:xfrm>
          <a:prstGeom prst="ellipse">
            <a:avLst/>
          </a:prstGeom>
          <a:solidFill>
            <a:srgbClr val="E18B2D"/>
          </a:solidFill>
          <a:ln w="12700">
            <a:solidFill>
              <a:srgbClr val="E18B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50608" y="2450592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310896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未回答・重症を\n自動で一覧化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705088" y="2999232"/>
            <a:ext cx="301752" cy="0"/>
          </a:xfrm>
          <a:prstGeom prst="line">
            <a:avLst/>
          </a:prstGeom>
          <a:noFill/>
          <a:ln w="27940">
            <a:solidFill>
              <a:srgbClr val="237B7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052560" y="1965960"/>
            <a:ext cx="23317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893808" y="2267712"/>
            <a:ext cx="658368" cy="658368"/>
          </a:xfrm>
          <a:prstGeom prst="ellipse">
            <a:avLst/>
          </a:prstGeom>
          <a:solidFill>
            <a:srgbClr val="C9342D"/>
          </a:solidFill>
          <a:ln w="12700">
            <a:solidFill>
              <a:srgbClr val="C934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93808" y="2450592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72600" y="310896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要対応者へ\n電話・個別連絡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525780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F8A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目的: 全員に電話する前に、誰が無事で、誰に対応が必要かを見える化する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6B9A"/>
          </a:solidFill>
          <a:ln w="12700">
            <a:solidFill>
              <a:srgbClr val="176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834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通常診療での使い方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11064240" y="2651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災害時だけでなく、日常診療のフォローにも使える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21792" y="1325880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1型糖尿病・透析・足病変など、目的別に文面とボタンを切り替え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" y="1828800"/>
            <a:ext cx="31546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21031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6B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1型糖尿病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252728" y="2788920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DFF4ED"/>
          </a:solidFill>
          <a:ln w="12700">
            <a:solidFill>
              <a:srgbClr val="DFF4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16736" y="2857500"/>
            <a:ext cx="20665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低血糖が心配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1252728" y="3291840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EAF6F3"/>
          </a:solidFill>
          <a:ln w="12700">
            <a:solidFill>
              <a:srgbClr val="EAF6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16736" y="3360420"/>
            <a:ext cx="20665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薬・インスリン不足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1252728" y="3794760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DFF4ED"/>
          </a:solidFill>
          <a:ln w="12700">
            <a:solidFill>
              <a:srgbClr val="DFF4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16736" y="3863340"/>
            <a:ext cx="20665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至急連絡希望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4480560" y="1828800"/>
            <a:ext cx="31546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9160" y="21031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7B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透析患者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956048" y="2788920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DFF4ED"/>
          </a:solidFill>
          <a:ln w="12700">
            <a:solidFill>
              <a:srgbClr val="DFF4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0056" y="2857500"/>
            <a:ext cx="20665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透析に行けない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4956048" y="3291840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EAF6F3"/>
          </a:solidFill>
          <a:ln w="12700">
            <a:solidFill>
              <a:srgbClr val="EAF6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0056" y="3360420"/>
            <a:ext cx="20665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シャントが心配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4956048" y="3794760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DFF4ED"/>
          </a:solidFill>
          <a:ln w="12700">
            <a:solidFill>
              <a:srgbClr val="DFF4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0056" y="3863340"/>
            <a:ext cx="20665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体調不良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8183880" y="1828800"/>
            <a:ext cx="31546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412480" y="21031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8B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足病変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8659368" y="2788920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DFF4ED"/>
          </a:solidFill>
          <a:ln w="12700">
            <a:solidFill>
              <a:srgbClr val="DFF4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23376" y="2857500"/>
            <a:ext cx="20665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写真を送信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8659368" y="3291840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EAF6F3"/>
          </a:solidFill>
          <a:ln w="12700">
            <a:solidFill>
              <a:srgbClr val="EAF6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23376" y="3360420"/>
            <a:ext cx="20665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痛み・赤み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8659368" y="3794760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DFF4ED"/>
          </a:solidFill>
          <a:ln w="12700">
            <a:solidFill>
              <a:srgbClr val="DFF4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23376" y="3863340"/>
            <a:ext cx="20665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発熱・悪化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914400" y="557784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8A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現場ごとの言葉で送れるため、患者さんにも伝わりやすい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6B9A"/>
          </a:solidFill>
          <a:ln w="12700">
            <a:solidFill>
              <a:srgbClr val="176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834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写真・位置情報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11064240" y="2651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写真や位置情報も、必要な時だけ受け取れる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21792" y="1325880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足病変や災害時の所在確認など、電話では伝わりにくい情報を補える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2834640" cy="4160520"/>
          </a:xfrm>
          <a:prstGeom prst="roundRect">
            <a:avLst>
              <a:gd name="adj" fmla="val 5806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" y="1527048"/>
            <a:ext cx="2615184" cy="3941064"/>
          </a:xfrm>
          <a:prstGeom prst="roundRect">
            <a:avLst>
              <a:gd name="adj" fmla="val 4196"/>
            </a:avLst>
          </a:prstGeom>
          <a:solidFill>
            <a:srgbClr val="EEF7F4"/>
          </a:solidFill>
          <a:ln w="12700">
            <a:solidFill>
              <a:srgbClr val="EEF7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1709928"/>
            <a:ext cx="2322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7B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患者さんのLINE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170432" y="2075688"/>
            <a:ext cx="2231136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07592" y="2221992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足の状態が心配な場合は、写真を送ってください。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1307592" y="2633472"/>
            <a:ext cx="987552" cy="310896"/>
          </a:xfrm>
          <a:prstGeom prst="roundRect">
            <a:avLst>
              <a:gd name="adj" fmla="val 23529"/>
            </a:avLst>
          </a:prstGeom>
          <a:solidFill>
            <a:srgbClr val="DFF4ED"/>
          </a:solidFill>
          <a:ln w="12700">
            <a:solidFill>
              <a:srgbClr val="DFF4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702052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37B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写真を送信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2478024" y="2633472"/>
            <a:ext cx="987552" cy="310896"/>
          </a:xfrm>
          <a:prstGeom prst="roundRect">
            <a:avLst>
              <a:gd name="adj" fmla="val 23529"/>
            </a:avLst>
          </a:prstGeom>
          <a:solidFill>
            <a:srgbClr val="DFF4ED"/>
          </a:solidFill>
          <a:ln w="12700">
            <a:solidFill>
              <a:srgbClr val="DFF4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2702052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37B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痛みあり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1307592" y="2962656"/>
            <a:ext cx="987552" cy="310896"/>
          </a:xfrm>
          <a:prstGeom prst="roundRect">
            <a:avLst>
              <a:gd name="adj" fmla="val 23529"/>
            </a:avLst>
          </a:prstGeom>
          <a:solidFill>
            <a:srgbClr val="DFF4ED"/>
          </a:solidFill>
          <a:ln w="12700">
            <a:solidFill>
              <a:srgbClr val="DFF4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3031236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37B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赤みあり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2478024" y="2962656"/>
            <a:ext cx="987552" cy="310896"/>
          </a:xfrm>
          <a:prstGeom prst="roundRect">
            <a:avLst>
              <a:gd name="adj" fmla="val 23529"/>
            </a:avLst>
          </a:prstGeom>
          <a:solidFill>
            <a:srgbClr val="DFF4ED"/>
          </a:solidFill>
          <a:ln w="12700">
            <a:solidFill>
              <a:srgbClr val="DFF4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42032" y="3031236"/>
            <a:ext cx="859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37B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至急相談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1170432" y="3630168"/>
            <a:ext cx="223113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307592" y="3831336"/>
            <a:ext cx="1956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ボタンを押すだけで回答完了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4617720" y="169164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1938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8B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92040" y="2606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足病変の状態を\n管理画面から確認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818120" y="169164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046720" y="1938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7B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位置情報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092440" y="2606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災害時の所在を\n地図リンクで確認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46320" y="4251960"/>
            <a:ext cx="5486400" cy="685800"/>
          </a:xfrm>
          <a:prstGeom prst="roundRect">
            <a:avLst>
              <a:gd name="adj" fmla="val 10667"/>
            </a:avLst>
          </a:prstGeom>
          <a:solidFill>
            <a:srgbClr val="FFF3CD"/>
          </a:solidFill>
          <a:ln w="12700">
            <a:solidFill>
              <a:srgbClr val="F1D58A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74920" y="44805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注意: 緊急対応そのものはLINEではなく、電話・救急外来へ誘導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6B9A"/>
          </a:solidFill>
          <a:ln w="12700">
            <a:solidFill>
              <a:srgbClr val="176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834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導入しやすさ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11064240" y="2651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施設ごとに設定でき、難しい操作は画面内に案内を表示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21792" y="1325880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新しい施設でも、設定画面から必要事項を確認できる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1737360"/>
            <a:ext cx="4892040" cy="1005840"/>
          </a:xfrm>
          <a:prstGeom prst="roundRect">
            <a:avLst>
              <a:gd name="adj" fmla="val 7273"/>
            </a:avLst>
          </a:prstGeom>
          <a:solidFill>
            <a:srgbClr val="EAF6F3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193852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6B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施設ID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606040" y="1956816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ログインと設定を施設ごとに分ける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4892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93852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6B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LINE設定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092440" y="1956816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Webhook URL、アクセストークン、接続診断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22960" y="3154680"/>
            <a:ext cx="4892040" cy="1005840"/>
          </a:xfrm>
          <a:prstGeom prst="roundRect">
            <a:avLst>
              <a:gd name="adj" fmla="val 7273"/>
            </a:avLst>
          </a:prstGeom>
          <a:solidFill>
            <a:srgbClr val="EAF6F3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51560" y="335584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6B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Google設定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606040" y="3374136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Sheets、Drive、共有先メールを案内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6309360" y="3154680"/>
            <a:ext cx="4892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7960" y="335584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6B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マニュアル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092440" y="3374136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患者登録、送信、トラブル対応をサイト内に掲載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914400" y="5257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8A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ICT担当者だけでなく、診療科スタッフが運用イメージを理解しやすい設計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6B9A"/>
          </a:solidFill>
          <a:ln w="12700">
            <a:solidFill>
              <a:srgbClr val="176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834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先生方へのメッセージ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11064240" y="2651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まずは小さく試せる：スタッフデモから患者登録へ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21792" y="1325880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全患者一斉導入ではなく、対象を絞って運用を確認する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143000" y="1691640"/>
            <a:ext cx="98755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0" y="1847088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DFF4ED"/>
          </a:solidFill>
          <a:ln w="12700">
            <a:solidFill>
              <a:srgbClr val="DFF4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35608" y="1915668"/>
            <a:ext cx="9235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8A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743200" y="185623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院内スタッフでLINE回答を体験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143000" y="2560320"/>
            <a:ext cx="98755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71600" y="2715768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EAF6F3"/>
          </a:solidFill>
          <a:ln w="12700">
            <a:solidFill>
              <a:srgbClr val="EAF6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08" y="2784348"/>
            <a:ext cx="9235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6B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43200" y="272491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患者10〜20名で小規模運用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143000" y="3429000"/>
            <a:ext cx="98755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71600" y="3584448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DFF4ED"/>
          </a:solidFill>
          <a:ln w="12700">
            <a:solidFill>
              <a:srgbClr val="DFF4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35608" y="3653028"/>
            <a:ext cx="9235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8A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743200" y="359359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災害訓練・通常フォローで検証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143000" y="4297680"/>
            <a:ext cx="98755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2700" dist="50800" dir="2700000">
              <a:srgbClr val="AAB4BF">
                <a:alpha val="11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371600" y="4453128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EAF6F3"/>
          </a:solidFill>
          <a:ln w="12700">
            <a:solidFill>
              <a:srgbClr val="EAF6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35608" y="4521708"/>
            <a:ext cx="9235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6B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743200" y="446227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対象疾患・施設を拡大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548640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176B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評価指標: 返信率、未回答率、要対応者確認までの時間、電話件数、スタッフ負担</a:t>
            </a:r>
            <a:endParaRPr lang="en-US" sz="13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MedSafety Linkは、糖尿病診療の現場で\n「患者さんに聞く」「一覧で見る」「必要な人から対応する」\nをLINEで支援する仕組みです。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" y="3977640"/>
            <a:ext cx="2514600" cy="310896"/>
          </a:xfrm>
          <a:prstGeom prst="roundRect">
            <a:avLst>
              <a:gd name="adj" fmla="val 23529"/>
            </a:avLst>
          </a:prstGeom>
          <a:solidFill>
            <a:srgbClr val="DFF4ED"/>
          </a:solidFill>
          <a:ln w="12700">
            <a:solidFill>
              <a:srgbClr val="DFF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1288" y="4046220"/>
            <a:ext cx="2386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8A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患者さんはボタンで回答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434840" y="3977640"/>
            <a:ext cx="2514600" cy="310896"/>
          </a:xfrm>
          <a:prstGeom prst="roundRect">
            <a:avLst>
              <a:gd name="adj" fmla="val 23529"/>
            </a:avLst>
          </a:prstGeom>
          <a:solidFill>
            <a:srgbClr val="EAF6F3"/>
          </a:solidFill>
          <a:ln w="12700">
            <a:solidFill>
              <a:srgbClr val="EAF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98848" y="4046220"/>
            <a:ext cx="2386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6B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医療者は一覧で確認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0" y="3977640"/>
            <a:ext cx="2514600" cy="310896"/>
          </a:xfrm>
          <a:prstGeom prst="roundRect">
            <a:avLst>
              <a:gd name="adj" fmla="val 23529"/>
            </a:avLst>
          </a:prstGeom>
          <a:solidFill>
            <a:srgbClr val="DFF4ED"/>
          </a:solidFill>
          <a:ln w="12700">
            <a:solidFill>
              <a:srgbClr val="DFF4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36408" y="4046220"/>
            <a:ext cx="2386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8A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災害時も通常診療も活用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516636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FF4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“電話が集中する前に、対応が必要な患者さんを見つける”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614476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EAF4F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熊本中央病院 糖尿病・内分泌・代謝内科　西田 健朗</a:t>
            </a:r>
            <a:endParaRPr lang="en-US" sz="9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Kumamoto Chuo Hospital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MedSafety Link 日本糖尿病学会紹介用スライド</dc:title>
  <dc:subject>Clinician-friendly introduction to MedSafety Link</dc:subject>
  <dc:creator>MedSafety Link</dc:creator>
  <cp:lastModifiedBy>MedSafety Link</cp:lastModifiedBy>
  <cp:revision>1</cp:revision>
  <dcterms:created xsi:type="dcterms:W3CDTF">2026-05-21T12:37:26Z</dcterms:created>
  <dcterms:modified xsi:type="dcterms:W3CDTF">2026-05-21T12:37:26Z</dcterms:modified>
</cp:coreProperties>
</file>