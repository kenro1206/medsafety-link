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5E98"/>
        </a:solidFill>
      </p:bgPr>
    </p:bg>
    <p:spTree>
      <p:nvGrpSpPr>
        <p:cNvPr id="1" name=""/>
        <p:cNvGrpSpPr/>
        <p:nvPr/>
      </p:nvGrpSpPr>
      <p:grpSpPr>
        <a:xfrm>
          <a:off x="0" y="0"/>
          <a:ext cx="0" cy="0"/>
          <a:chOff x="0" y="0"/>
          <a:chExt cx="0" cy="0"/>
        </a:xfrm>
      </p:grpSpPr>
      <p:sp>
        <p:nvSpPr>
          <p:cNvPr id="2" name="Shape 0"/>
          <p:cNvSpPr/>
          <p:nvPr/>
        </p:nvSpPr>
        <p:spPr>
          <a:xfrm>
            <a:off x="7680960" y="0"/>
            <a:ext cx="4517136" cy="6858000"/>
          </a:xfrm>
          <a:prstGeom prst="rect">
            <a:avLst/>
          </a:prstGeom>
          <a:solidFill>
            <a:srgbClr val="257E6F">
              <a:alpha val="90000"/>
            </a:srgbClr>
          </a:solidFill>
          <a:ln w="12700">
            <a:solidFill>
              <a:srgbClr val="257E6F">
                <a:alpha val="0"/>
              </a:srgbClr>
            </a:solidFill>
            <a:prstDash val="solid"/>
          </a:ln>
        </p:spPr>
      </p:sp>
      <p:sp>
        <p:nvSpPr>
          <p:cNvPr id="3" name="Text 1"/>
          <p:cNvSpPr/>
          <p:nvPr/>
        </p:nvSpPr>
        <p:spPr>
          <a:xfrm>
            <a:off x="566928" y="502920"/>
            <a:ext cx="3840480" cy="32004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MedSafety Link</a:t>
            </a:r>
            <a:endParaRPr lang="en-US" sz="1400" dirty="0"/>
          </a:p>
        </p:txBody>
      </p:sp>
      <p:sp>
        <p:nvSpPr>
          <p:cNvPr id="4" name="Text 2"/>
          <p:cNvSpPr/>
          <p:nvPr/>
        </p:nvSpPr>
        <p:spPr>
          <a:xfrm>
            <a:off x="566928" y="1417320"/>
            <a:ext cx="7498080" cy="118872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Yu Gothic" pitchFamily="34" charset="0"/>
                <a:ea typeface="Yu Gothic" pitchFamily="34" charset="-122"/>
                <a:cs typeface="Yu Gothic" pitchFamily="34" charset="-120"/>
              </a:rPr>
              <a:t>LINEを活用した糖尿病患者\n安否・症状確認システムの開発</a:t>
            </a:r>
            <a:endParaRPr lang="en-US" sz="3100" dirty="0"/>
          </a:p>
        </p:txBody>
      </p:sp>
      <p:sp>
        <p:nvSpPr>
          <p:cNvPr id="5" name="Text 3"/>
          <p:cNvSpPr/>
          <p:nvPr/>
        </p:nvSpPr>
        <p:spPr>
          <a:xfrm>
            <a:off x="603504" y="2761488"/>
            <a:ext cx="6858000" cy="292608"/>
          </a:xfrm>
          <a:prstGeom prst="rect">
            <a:avLst/>
          </a:prstGeom>
          <a:noFill/>
          <a:ln/>
        </p:spPr>
        <p:txBody>
          <a:bodyPr wrap="square" lIns="0" tIns="0" rIns="0" bIns="0" rtlCol="0" anchor="ctr"/>
          <a:lstStyle/>
          <a:p>
            <a:pPr indent="0" marL="0">
              <a:buNone/>
            </a:pPr>
            <a:r>
              <a:rPr lang="en-US" sz="1400" b="1" dirty="0">
                <a:solidFill>
                  <a:srgbClr val="DDEBFF"/>
                </a:solidFill>
                <a:latin typeface="Yu Gothic" pitchFamily="34" charset="0"/>
                <a:ea typeface="Yu Gothic" pitchFamily="34" charset="-122"/>
                <a:cs typeface="Yu Gothic" pitchFamily="34" charset="-120"/>
              </a:rPr>
              <a:t>災害時・通常診療を支える患者連絡支援基盤</a:t>
            </a:r>
            <a:endParaRPr lang="en-US" sz="1400" dirty="0"/>
          </a:p>
        </p:txBody>
      </p:sp>
      <p:sp>
        <p:nvSpPr>
          <p:cNvPr id="6" name="Shape 4"/>
          <p:cNvSpPr/>
          <p:nvPr/>
        </p:nvSpPr>
        <p:spPr>
          <a:xfrm>
            <a:off x="8321040" y="1024128"/>
            <a:ext cx="2468880" cy="3657600"/>
          </a:xfrm>
          <a:prstGeom prst="roundRect">
            <a:avLst>
              <a:gd name="adj" fmla="val 6667"/>
            </a:avLst>
          </a:prstGeom>
          <a:solidFill>
            <a:srgbClr val="111827"/>
          </a:solidFill>
          <a:ln w="12700">
            <a:solidFill>
              <a:srgbClr val="111827"/>
            </a:solidFill>
            <a:prstDash val="solid"/>
          </a:ln>
        </p:spPr>
      </p:sp>
      <p:sp>
        <p:nvSpPr>
          <p:cNvPr id="7" name="Shape 5"/>
          <p:cNvSpPr/>
          <p:nvPr/>
        </p:nvSpPr>
        <p:spPr>
          <a:xfrm>
            <a:off x="8430768" y="1133856"/>
            <a:ext cx="2249424" cy="3438144"/>
          </a:xfrm>
          <a:prstGeom prst="roundRect">
            <a:avLst>
              <a:gd name="adj" fmla="val 4878"/>
            </a:avLst>
          </a:prstGeom>
          <a:solidFill>
            <a:srgbClr val="EEF7F4"/>
          </a:solidFill>
          <a:ln w="12700">
            <a:solidFill>
              <a:srgbClr val="EEF7F4"/>
            </a:solidFill>
            <a:prstDash val="solid"/>
          </a:ln>
        </p:spPr>
      </p:sp>
      <p:sp>
        <p:nvSpPr>
          <p:cNvPr id="8" name="Text 6"/>
          <p:cNvSpPr/>
          <p:nvPr/>
        </p:nvSpPr>
        <p:spPr>
          <a:xfrm>
            <a:off x="8549640" y="1344168"/>
            <a:ext cx="2011680" cy="228600"/>
          </a:xfrm>
          <a:prstGeom prst="rect">
            <a:avLst/>
          </a:prstGeom>
          <a:noFill/>
          <a:ln/>
        </p:spPr>
        <p:txBody>
          <a:bodyPr wrap="square" lIns="0" tIns="0" rIns="0" bIns="0" rtlCol="0" anchor="ctr"/>
          <a:lstStyle/>
          <a:p>
            <a:pPr indent="0" marL="0">
              <a:buNone/>
            </a:pPr>
            <a:r>
              <a:rPr lang="en-US" sz="840" b="1" dirty="0">
                <a:solidFill>
                  <a:srgbClr val="166F77"/>
                </a:solidFill>
                <a:latin typeface="Yu Gothic" pitchFamily="34" charset="0"/>
                <a:ea typeface="Yu Gothic" pitchFamily="34" charset="-122"/>
                <a:cs typeface="Yu Gothic" pitchFamily="34" charset="-120"/>
              </a:rPr>
              <a:t>患者さんのLINE画面</a:t>
            </a:r>
            <a:endParaRPr lang="en-US" sz="840" dirty="0"/>
          </a:p>
        </p:txBody>
      </p:sp>
      <p:sp>
        <p:nvSpPr>
          <p:cNvPr id="9" name="Shape 7"/>
          <p:cNvSpPr/>
          <p:nvPr/>
        </p:nvSpPr>
        <p:spPr>
          <a:xfrm>
            <a:off x="8613648" y="1737360"/>
            <a:ext cx="1883664" cy="1234440"/>
          </a:xfrm>
          <a:prstGeom prst="roundRect">
            <a:avLst>
              <a:gd name="adj" fmla="val 5926"/>
            </a:avLst>
          </a:prstGeom>
          <a:solidFill>
            <a:srgbClr val="FFFFFF"/>
          </a:solidFill>
          <a:ln w="12700">
            <a:solidFill>
              <a:srgbClr val="DCE6EF"/>
            </a:solidFill>
            <a:prstDash val="solid"/>
          </a:ln>
        </p:spPr>
      </p:sp>
      <p:sp>
        <p:nvSpPr>
          <p:cNvPr id="10" name="Text 8"/>
          <p:cNvSpPr/>
          <p:nvPr/>
        </p:nvSpPr>
        <p:spPr>
          <a:xfrm>
            <a:off x="8750808" y="1865376"/>
            <a:ext cx="1609344" cy="256032"/>
          </a:xfrm>
          <a:prstGeom prst="rect">
            <a:avLst/>
          </a:prstGeom>
          <a:noFill/>
          <a:ln/>
        </p:spPr>
        <p:txBody>
          <a:bodyPr wrap="square" lIns="0" tIns="0" rIns="0" bIns="0" rtlCol="0" anchor="ctr"/>
          <a:lstStyle/>
          <a:p>
            <a:pPr indent="0" marL="0">
              <a:buNone/>
            </a:pPr>
            <a:r>
              <a:rPr lang="en-US" sz="750" dirty="0">
                <a:solidFill>
                  <a:srgbClr val="132033"/>
                </a:solidFill>
                <a:latin typeface="Yu Gothic" pitchFamily="34" charset="0"/>
                <a:ea typeface="Yu Gothic" pitchFamily="34" charset="-122"/>
                <a:cs typeface="Yu Gothic" pitchFamily="34" charset="-120"/>
              </a:rPr>
              <a:t>【安否確認】現在の状況を返信してください。</a:t>
            </a:r>
            <a:endParaRPr lang="en-US" sz="750" dirty="0"/>
          </a:p>
        </p:txBody>
      </p:sp>
      <p:sp>
        <p:nvSpPr>
          <p:cNvPr id="11" name="Shape 9"/>
          <p:cNvSpPr/>
          <p:nvPr/>
        </p:nvSpPr>
        <p:spPr>
          <a:xfrm>
            <a:off x="8750808" y="2194560"/>
            <a:ext cx="1078992" cy="310896"/>
          </a:xfrm>
          <a:prstGeom prst="roundRect">
            <a:avLst>
              <a:gd name="adj" fmla="val 23529"/>
            </a:avLst>
          </a:prstGeom>
          <a:solidFill>
            <a:srgbClr val="DFF4ED"/>
          </a:solidFill>
          <a:ln w="12700">
            <a:solidFill>
              <a:srgbClr val="DFF4ED"/>
            </a:solidFill>
            <a:prstDash val="solid"/>
          </a:ln>
        </p:spPr>
      </p:sp>
      <p:sp>
        <p:nvSpPr>
          <p:cNvPr id="12" name="Text 10"/>
          <p:cNvSpPr/>
          <p:nvPr/>
        </p:nvSpPr>
        <p:spPr>
          <a:xfrm>
            <a:off x="8823960" y="2263140"/>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無事</a:t>
            </a:r>
            <a:endParaRPr lang="en-US" sz="800" dirty="0"/>
          </a:p>
        </p:txBody>
      </p:sp>
      <p:sp>
        <p:nvSpPr>
          <p:cNvPr id="13" name="Shape 11"/>
          <p:cNvSpPr/>
          <p:nvPr/>
        </p:nvSpPr>
        <p:spPr>
          <a:xfrm>
            <a:off x="10012680" y="2194560"/>
            <a:ext cx="1078992" cy="310896"/>
          </a:xfrm>
          <a:prstGeom prst="roundRect">
            <a:avLst>
              <a:gd name="adj" fmla="val 23529"/>
            </a:avLst>
          </a:prstGeom>
          <a:solidFill>
            <a:srgbClr val="DFF4ED"/>
          </a:solidFill>
          <a:ln w="12700">
            <a:solidFill>
              <a:srgbClr val="DFF4ED"/>
            </a:solidFill>
            <a:prstDash val="solid"/>
          </a:ln>
        </p:spPr>
      </p:sp>
      <p:sp>
        <p:nvSpPr>
          <p:cNvPr id="14" name="Text 12"/>
          <p:cNvSpPr/>
          <p:nvPr/>
        </p:nvSpPr>
        <p:spPr>
          <a:xfrm>
            <a:off x="10085832" y="2263140"/>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体調不良</a:t>
            </a:r>
            <a:endParaRPr lang="en-US" sz="800" dirty="0"/>
          </a:p>
        </p:txBody>
      </p:sp>
      <p:sp>
        <p:nvSpPr>
          <p:cNvPr id="15" name="Shape 13"/>
          <p:cNvSpPr/>
          <p:nvPr/>
        </p:nvSpPr>
        <p:spPr>
          <a:xfrm>
            <a:off x="8750808" y="2523744"/>
            <a:ext cx="1078992" cy="310896"/>
          </a:xfrm>
          <a:prstGeom prst="roundRect">
            <a:avLst>
              <a:gd name="adj" fmla="val 23529"/>
            </a:avLst>
          </a:prstGeom>
          <a:solidFill>
            <a:srgbClr val="DFF4ED"/>
          </a:solidFill>
          <a:ln w="12700">
            <a:solidFill>
              <a:srgbClr val="DFF4ED"/>
            </a:solidFill>
            <a:prstDash val="solid"/>
          </a:ln>
        </p:spPr>
      </p:sp>
      <p:sp>
        <p:nvSpPr>
          <p:cNvPr id="16" name="Text 14"/>
          <p:cNvSpPr/>
          <p:nvPr/>
        </p:nvSpPr>
        <p:spPr>
          <a:xfrm>
            <a:off x="8823960" y="2592324"/>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薬不足</a:t>
            </a:r>
            <a:endParaRPr lang="en-US" sz="800" dirty="0"/>
          </a:p>
        </p:txBody>
      </p:sp>
      <p:sp>
        <p:nvSpPr>
          <p:cNvPr id="17" name="Shape 15"/>
          <p:cNvSpPr/>
          <p:nvPr/>
        </p:nvSpPr>
        <p:spPr>
          <a:xfrm>
            <a:off x="10012680" y="2523744"/>
            <a:ext cx="1078992" cy="310896"/>
          </a:xfrm>
          <a:prstGeom prst="roundRect">
            <a:avLst>
              <a:gd name="adj" fmla="val 23529"/>
            </a:avLst>
          </a:prstGeom>
          <a:solidFill>
            <a:srgbClr val="DFF4ED"/>
          </a:solidFill>
          <a:ln w="12700">
            <a:solidFill>
              <a:srgbClr val="DFF4ED"/>
            </a:solidFill>
            <a:prstDash val="solid"/>
          </a:ln>
        </p:spPr>
      </p:sp>
      <p:sp>
        <p:nvSpPr>
          <p:cNvPr id="18" name="Text 16"/>
          <p:cNvSpPr/>
          <p:nvPr/>
        </p:nvSpPr>
        <p:spPr>
          <a:xfrm>
            <a:off x="10085832" y="2592324"/>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至急連絡</a:t>
            </a:r>
            <a:endParaRPr lang="en-US" sz="800" dirty="0"/>
          </a:p>
        </p:txBody>
      </p:sp>
      <p:sp>
        <p:nvSpPr>
          <p:cNvPr id="19" name="Shape 17"/>
          <p:cNvSpPr/>
          <p:nvPr/>
        </p:nvSpPr>
        <p:spPr>
          <a:xfrm>
            <a:off x="8613648" y="3172968"/>
            <a:ext cx="1883664" cy="530352"/>
          </a:xfrm>
          <a:prstGeom prst="roundRect">
            <a:avLst>
              <a:gd name="adj" fmla="val 13793"/>
            </a:avLst>
          </a:prstGeom>
          <a:solidFill>
            <a:srgbClr val="FFFFFF"/>
          </a:solidFill>
          <a:ln w="12700">
            <a:solidFill>
              <a:srgbClr val="DCE6EF"/>
            </a:solidFill>
            <a:prstDash val="solid"/>
          </a:ln>
        </p:spPr>
      </p:sp>
      <p:sp>
        <p:nvSpPr>
          <p:cNvPr id="20" name="Text 18"/>
          <p:cNvSpPr/>
          <p:nvPr/>
        </p:nvSpPr>
        <p:spPr>
          <a:xfrm>
            <a:off x="8750808" y="3346704"/>
            <a:ext cx="1609344" cy="164592"/>
          </a:xfrm>
          <a:prstGeom prst="rect">
            <a:avLst/>
          </a:prstGeom>
          <a:noFill/>
          <a:ln/>
        </p:spPr>
        <p:txBody>
          <a:bodyPr wrap="square" lIns="0" tIns="0" rIns="0" bIns="0" rtlCol="0" anchor="ctr"/>
          <a:lstStyle/>
          <a:p>
            <a:pPr indent="0" marL="0">
              <a:buNone/>
            </a:pPr>
            <a:r>
              <a:rPr lang="en-US" sz="740" dirty="0">
                <a:solidFill>
                  <a:srgbClr val="132033"/>
                </a:solidFill>
                <a:latin typeface="Yu Gothic" pitchFamily="34" charset="0"/>
                <a:ea typeface="Yu Gothic" pitchFamily="34" charset="-122"/>
                <a:cs typeface="Yu Gothic" pitchFamily="34" charset="-120"/>
              </a:rPr>
              <a:t>写真・位置情報も送信可能</a:t>
            </a:r>
            <a:endParaRPr lang="en-US" sz="740" dirty="0"/>
          </a:p>
        </p:txBody>
      </p:sp>
      <p:sp>
        <p:nvSpPr>
          <p:cNvPr id="21" name="Shape 19"/>
          <p:cNvSpPr/>
          <p:nvPr/>
        </p:nvSpPr>
        <p:spPr>
          <a:xfrm>
            <a:off x="5806440" y="4279392"/>
            <a:ext cx="5212080" cy="2011680"/>
          </a:xfrm>
          <a:prstGeom prst="roundRect">
            <a:avLst>
              <a:gd name="adj" fmla="val 3636"/>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2" name="Text 20"/>
          <p:cNvSpPr/>
          <p:nvPr/>
        </p:nvSpPr>
        <p:spPr>
          <a:xfrm>
            <a:off x="6035040" y="4443984"/>
            <a:ext cx="4754880" cy="228600"/>
          </a:xfrm>
          <a:prstGeom prst="rect">
            <a:avLst/>
          </a:prstGeom>
          <a:noFill/>
          <a:ln/>
        </p:spPr>
        <p:txBody>
          <a:bodyPr wrap="square" lIns="0" tIns="0" rIns="0" bIns="0" rtlCol="0" anchor="ctr"/>
          <a:lstStyle/>
          <a:p>
            <a:pPr indent="0" marL="0">
              <a:buNone/>
            </a:pPr>
            <a:r>
              <a:rPr lang="en-US" sz="1100" b="1" dirty="0">
                <a:solidFill>
                  <a:srgbClr val="185E98"/>
                </a:solidFill>
                <a:latin typeface="Yu Gothic" pitchFamily="34" charset="0"/>
                <a:ea typeface="Yu Gothic" pitchFamily="34" charset="-122"/>
                <a:cs typeface="Yu Gothic" pitchFamily="34" charset="-120"/>
              </a:rPr>
              <a:t>ダッシュボード</a:t>
            </a:r>
            <a:endParaRPr lang="en-US" sz="1100" dirty="0"/>
          </a:p>
        </p:txBody>
      </p:sp>
      <p:sp>
        <p:nvSpPr>
          <p:cNvPr id="23" name="Shape 21"/>
          <p:cNvSpPr/>
          <p:nvPr/>
        </p:nvSpPr>
        <p:spPr>
          <a:xfrm>
            <a:off x="6062472" y="4855464"/>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4" name="Text 22"/>
          <p:cNvSpPr/>
          <p:nvPr/>
        </p:nvSpPr>
        <p:spPr>
          <a:xfrm>
            <a:off x="6190488" y="4974336"/>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患者数</a:t>
            </a:r>
            <a:endParaRPr lang="en-US" sz="760" dirty="0"/>
          </a:p>
        </p:txBody>
      </p:sp>
      <p:sp>
        <p:nvSpPr>
          <p:cNvPr id="25" name="Text 23"/>
          <p:cNvSpPr/>
          <p:nvPr/>
        </p:nvSpPr>
        <p:spPr>
          <a:xfrm>
            <a:off x="6190488" y="5175504"/>
            <a:ext cx="1783080" cy="384048"/>
          </a:xfrm>
          <a:prstGeom prst="rect">
            <a:avLst/>
          </a:prstGeom>
          <a:noFill/>
          <a:ln/>
        </p:spPr>
        <p:txBody>
          <a:bodyPr wrap="square" lIns="0" tIns="0" rIns="0" bIns="0" rtlCol="0" anchor="ctr"/>
          <a:lstStyle/>
          <a:p>
            <a:pPr indent="0" marL="0">
              <a:buNone/>
            </a:pPr>
            <a:r>
              <a:rPr lang="en-US" sz="2400" b="1" dirty="0">
                <a:solidFill>
                  <a:srgbClr val="132033"/>
                </a:solidFill>
                <a:latin typeface="Yu Gothic" pitchFamily="34" charset="0"/>
                <a:ea typeface="Yu Gothic" pitchFamily="34" charset="-122"/>
                <a:cs typeface="Yu Gothic" pitchFamily="34" charset="-120"/>
              </a:rPr>
              <a:t>120</a:t>
            </a:r>
            <a:endParaRPr lang="en-US" sz="2400" dirty="0"/>
          </a:p>
        </p:txBody>
      </p:sp>
      <p:sp>
        <p:nvSpPr>
          <p:cNvPr id="26" name="Shape 24"/>
          <p:cNvSpPr/>
          <p:nvPr/>
        </p:nvSpPr>
        <p:spPr>
          <a:xfrm>
            <a:off x="8293608" y="4855464"/>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7" name="Text 25"/>
          <p:cNvSpPr/>
          <p:nvPr/>
        </p:nvSpPr>
        <p:spPr>
          <a:xfrm>
            <a:off x="8421624" y="4974336"/>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回答済</a:t>
            </a:r>
            <a:endParaRPr lang="en-US" sz="760" dirty="0"/>
          </a:p>
        </p:txBody>
      </p:sp>
      <p:sp>
        <p:nvSpPr>
          <p:cNvPr id="28" name="Text 26"/>
          <p:cNvSpPr/>
          <p:nvPr/>
        </p:nvSpPr>
        <p:spPr>
          <a:xfrm>
            <a:off x="8421624" y="5175504"/>
            <a:ext cx="1783080" cy="384048"/>
          </a:xfrm>
          <a:prstGeom prst="rect">
            <a:avLst/>
          </a:prstGeom>
          <a:noFill/>
          <a:ln/>
        </p:spPr>
        <p:txBody>
          <a:bodyPr wrap="square" lIns="0" tIns="0" rIns="0" bIns="0" rtlCol="0" anchor="ctr"/>
          <a:lstStyle/>
          <a:p>
            <a:pPr indent="0" marL="0">
              <a:buNone/>
            </a:pPr>
            <a:r>
              <a:rPr lang="en-US" sz="2400" b="1" dirty="0">
                <a:solidFill>
                  <a:srgbClr val="166F77"/>
                </a:solidFill>
                <a:latin typeface="Yu Gothic" pitchFamily="34" charset="0"/>
                <a:ea typeface="Yu Gothic" pitchFamily="34" charset="-122"/>
                <a:cs typeface="Yu Gothic" pitchFamily="34" charset="-120"/>
              </a:rPr>
              <a:t>86</a:t>
            </a:r>
            <a:endParaRPr lang="en-US" sz="2400" dirty="0"/>
          </a:p>
        </p:txBody>
      </p:sp>
      <p:sp>
        <p:nvSpPr>
          <p:cNvPr id="29" name="Shape 27"/>
          <p:cNvSpPr/>
          <p:nvPr/>
        </p:nvSpPr>
        <p:spPr>
          <a:xfrm>
            <a:off x="6062472" y="5879592"/>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30" name="Text 28"/>
          <p:cNvSpPr/>
          <p:nvPr/>
        </p:nvSpPr>
        <p:spPr>
          <a:xfrm>
            <a:off x="6190488" y="5998464"/>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未回答</a:t>
            </a:r>
            <a:endParaRPr lang="en-US" sz="760" dirty="0"/>
          </a:p>
        </p:txBody>
      </p:sp>
      <p:sp>
        <p:nvSpPr>
          <p:cNvPr id="31" name="Text 29"/>
          <p:cNvSpPr/>
          <p:nvPr/>
        </p:nvSpPr>
        <p:spPr>
          <a:xfrm>
            <a:off x="6190488" y="6199632"/>
            <a:ext cx="1783080" cy="384048"/>
          </a:xfrm>
          <a:prstGeom prst="rect">
            <a:avLst/>
          </a:prstGeom>
          <a:noFill/>
          <a:ln/>
        </p:spPr>
        <p:txBody>
          <a:bodyPr wrap="square" lIns="0" tIns="0" rIns="0" bIns="0" rtlCol="0" anchor="ctr"/>
          <a:lstStyle/>
          <a:p>
            <a:pPr indent="0" marL="0">
              <a:buNone/>
            </a:pPr>
            <a:r>
              <a:rPr lang="en-US" sz="2400" b="1" dirty="0">
                <a:solidFill>
                  <a:srgbClr val="E18B2D"/>
                </a:solidFill>
                <a:latin typeface="Yu Gothic" pitchFamily="34" charset="0"/>
                <a:ea typeface="Yu Gothic" pitchFamily="34" charset="-122"/>
                <a:cs typeface="Yu Gothic" pitchFamily="34" charset="-120"/>
              </a:rPr>
              <a:t>34</a:t>
            </a:r>
            <a:endParaRPr lang="en-US" sz="2400" dirty="0"/>
          </a:p>
        </p:txBody>
      </p:sp>
      <p:sp>
        <p:nvSpPr>
          <p:cNvPr id="32" name="Shape 30"/>
          <p:cNvSpPr/>
          <p:nvPr/>
        </p:nvSpPr>
        <p:spPr>
          <a:xfrm>
            <a:off x="8293608" y="5879592"/>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33" name="Text 31"/>
          <p:cNvSpPr/>
          <p:nvPr/>
        </p:nvSpPr>
        <p:spPr>
          <a:xfrm>
            <a:off x="8421624" y="5998464"/>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緊急未対応</a:t>
            </a:r>
            <a:endParaRPr lang="en-US" sz="760" dirty="0"/>
          </a:p>
        </p:txBody>
      </p:sp>
      <p:sp>
        <p:nvSpPr>
          <p:cNvPr id="34" name="Text 32"/>
          <p:cNvSpPr/>
          <p:nvPr/>
        </p:nvSpPr>
        <p:spPr>
          <a:xfrm>
            <a:off x="8421624" y="6199632"/>
            <a:ext cx="1783080" cy="384048"/>
          </a:xfrm>
          <a:prstGeom prst="rect">
            <a:avLst/>
          </a:prstGeom>
          <a:noFill/>
          <a:ln/>
        </p:spPr>
        <p:txBody>
          <a:bodyPr wrap="square" lIns="0" tIns="0" rIns="0" bIns="0" rtlCol="0" anchor="ctr"/>
          <a:lstStyle/>
          <a:p>
            <a:pPr indent="0" marL="0">
              <a:buNone/>
            </a:pPr>
            <a:r>
              <a:rPr lang="en-US" sz="2400" b="1" dirty="0">
                <a:solidFill>
                  <a:srgbClr val="C9342D"/>
                </a:solidFill>
                <a:latin typeface="Yu Gothic" pitchFamily="34" charset="0"/>
                <a:ea typeface="Yu Gothic" pitchFamily="34" charset="-122"/>
                <a:cs typeface="Yu Gothic" pitchFamily="34" charset="-120"/>
              </a:rPr>
              <a:t>3</a:t>
            </a:r>
            <a:endParaRPr lang="en-US" sz="2400" dirty="0"/>
          </a:p>
        </p:txBody>
      </p:sp>
      <p:sp>
        <p:nvSpPr>
          <p:cNvPr id="35" name="Shape 33"/>
          <p:cNvSpPr/>
          <p:nvPr/>
        </p:nvSpPr>
        <p:spPr>
          <a:xfrm>
            <a:off x="6062472" y="7040880"/>
            <a:ext cx="4700016" cy="530352"/>
          </a:xfrm>
          <a:prstGeom prst="roundRect">
            <a:avLst>
              <a:gd name="adj" fmla="val 10345"/>
            </a:avLst>
          </a:prstGeom>
          <a:solidFill>
            <a:srgbClr val="FFF4F2"/>
          </a:solidFill>
          <a:ln w="12700">
            <a:solidFill>
              <a:srgbClr val="F1BBB8"/>
            </a:solidFill>
            <a:prstDash val="solid"/>
          </a:ln>
        </p:spPr>
      </p:sp>
      <p:sp>
        <p:nvSpPr>
          <p:cNvPr id="36" name="Text 34"/>
          <p:cNvSpPr/>
          <p:nvPr/>
        </p:nvSpPr>
        <p:spPr>
          <a:xfrm>
            <a:off x="6217920" y="7205472"/>
            <a:ext cx="4389120" cy="164592"/>
          </a:xfrm>
          <a:prstGeom prst="rect">
            <a:avLst/>
          </a:prstGeom>
          <a:noFill/>
          <a:ln/>
        </p:spPr>
        <p:txBody>
          <a:bodyPr wrap="square" lIns="0" tIns="0" rIns="0" bIns="0" rtlCol="0" anchor="ctr"/>
          <a:lstStyle/>
          <a:p>
            <a:pPr indent="0" marL="0">
              <a:buNone/>
            </a:pPr>
            <a:r>
              <a:rPr lang="en-US" sz="750" b="1" dirty="0">
                <a:solidFill>
                  <a:srgbClr val="C9342D"/>
                </a:solidFill>
                <a:latin typeface="Yu Gothic" pitchFamily="34" charset="0"/>
                <a:ea typeface="Yu Gothic" pitchFamily="34" charset="-122"/>
                <a:cs typeface="Yu Gothic" pitchFamily="34" charset="-120"/>
              </a:rPr>
              <a:t>重症アラート: 至急確認が必要な回答を優先表示</a:t>
            </a:r>
            <a:endParaRPr lang="en-US" sz="750" dirty="0"/>
          </a:p>
        </p:txBody>
      </p:sp>
      <p:sp>
        <p:nvSpPr>
          <p:cNvPr id="37" name="Text 35"/>
          <p:cNvSpPr/>
          <p:nvPr/>
        </p:nvSpPr>
        <p:spPr>
          <a:xfrm>
            <a:off x="603504" y="5897880"/>
            <a:ext cx="4937760" cy="219456"/>
          </a:xfrm>
          <a:prstGeom prst="rect">
            <a:avLst/>
          </a:prstGeom>
          <a:noFill/>
          <a:ln/>
        </p:spPr>
        <p:txBody>
          <a:bodyPr wrap="square" lIns="0" tIns="0" rIns="0" bIns="0" rtlCol="0" anchor="ctr"/>
          <a:lstStyle/>
          <a:p>
            <a:pPr indent="0" marL="0">
              <a:buNone/>
            </a:pPr>
            <a:r>
              <a:rPr lang="en-US" sz="1000" b="1" dirty="0">
                <a:solidFill>
                  <a:srgbClr val="FFFFFF"/>
                </a:solidFill>
                <a:latin typeface="Yu Gothic" pitchFamily="34" charset="0"/>
                <a:ea typeface="Yu Gothic" pitchFamily="34" charset="-122"/>
                <a:cs typeface="Yu Gothic" pitchFamily="34" charset="-120"/>
              </a:rPr>
              <a:t>日本糖尿病インフォマティクス学会</a:t>
            </a:r>
            <a:endParaRPr lang="en-US" sz="1000" dirty="0"/>
          </a:p>
        </p:txBody>
      </p:sp>
      <p:sp>
        <p:nvSpPr>
          <p:cNvPr id="38" name="Text 36"/>
          <p:cNvSpPr/>
          <p:nvPr/>
        </p:nvSpPr>
        <p:spPr>
          <a:xfrm>
            <a:off x="603504" y="6199632"/>
            <a:ext cx="6035040" cy="219456"/>
          </a:xfrm>
          <a:prstGeom prst="rect">
            <a:avLst/>
          </a:prstGeom>
          <a:noFill/>
          <a:ln/>
        </p:spPr>
        <p:txBody>
          <a:bodyPr wrap="square" lIns="0" tIns="0" rIns="0" bIns="0" rtlCol="0" anchor="ctr"/>
          <a:lstStyle/>
          <a:p>
            <a:pPr indent="0" marL="0">
              <a:buNone/>
            </a:pPr>
            <a:r>
              <a:rPr lang="en-US" sz="900" dirty="0">
                <a:solidFill>
                  <a:srgbClr val="EAF4F7"/>
                </a:solidFill>
                <a:latin typeface="Yu Gothic" pitchFamily="34" charset="0"/>
                <a:ea typeface="Yu Gothic" pitchFamily="34" charset="-122"/>
                <a:cs typeface="Yu Gothic" pitchFamily="34" charset="-120"/>
              </a:rPr>
              <a:t>熊本中央病院 糖尿病・内分泌・代謝内科　西田 健朗</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背景</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02</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電話が集中する状況で、誰に対応すべきかを早く知る</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災害時も通常診療の補助も、患者連絡は“量”と“優先順位”が課題になる</a:t>
            </a:r>
            <a:endParaRPr lang="en-US" sz="950" dirty="0"/>
          </a:p>
        </p:txBody>
      </p:sp>
      <p:sp>
        <p:nvSpPr>
          <p:cNvPr id="7" name="Shape 5"/>
          <p:cNvSpPr/>
          <p:nvPr/>
        </p:nvSpPr>
        <p:spPr>
          <a:xfrm>
            <a:off x="685800" y="1874520"/>
            <a:ext cx="3200400" cy="2971800"/>
          </a:xfrm>
          <a:prstGeom prst="roundRect">
            <a:avLst>
              <a:gd name="adj" fmla="val 2462"/>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Text 6"/>
          <p:cNvSpPr/>
          <p:nvPr/>
        </p:nvSpPr>
        <p:spPr>
          <a:xfrm>
            <a:off x="914400" y="2121408"/>
            <a:ext cx="2651760" cy="274320"/>
          </a:xfrm>
          <a:prstGeom prst="rect">
            <a:avLst/>
          </a:prstGeom>
          <a:noFill/>
          <a:ln/>
        </p:spPr>
        <p:txBody>
          <a:bodyPr wrap="square" lIns="0" tIns="0" rIns="0" bIns="0" rtlCol="0" anchor="ctr"/>
          <a:lstStyle/>
          <a:p>
            <a:pPr indent="0" marL="0">
              <a:buNone/>
            </a:pPr>
            <a:r>
              <a:rPr lang="en-US" sz="1700" b="1" dirty="0">
                <a:solidFill>
                  <a:srgbClr val="185E98"/>
                </a:solidFill>
                <a:latin typeface="Yu Gothic" pitchFamily="34" charset="0"/>
                <a:ea typeface="Yu Gothic" pitchFamily="34" charset="-122"/>
                <a:cs typeface="Yu Gothic" pitchFamily="34" charset="-120"/>
              </a:rPr>
              <a:t>災害時</a:t>
            </a:r>
            <a:endParaRPr lang="en-US" sz="1700" dirty="0"/>
          </a:p>
        </p:txBody>
      </p:sp>
      <p:sp>
        <p:nvSpPr>
          <p:cNvPr id="9" name="Text 7"/>
          <p:cNvSpPr/>
          <p:nvPr/>
        </p:nvSpPr>
        <p:spPr>
          <a:xfrm>
            <a:off x="914400" y="2788920"/>
            <a:ext cx="2697480" cy="1325880"/>
          </a:xfrm>
          <a:prstGeom prst="rect">
            <a:avLst/>
          </a:prstGeom>
          <a:noFill/>
          <a:ln/>
        </p:spPr>
        <p:txBody>
          <a:bodyPr wrap="square" lIns="0" tIns="0" rIns="0" bIns="0" rtlCol="0" anchor="ctr">
            <a:normAutofit/>
          </a:bodyPr>
          <a:lstStyle/>
          <a:p>
            <a:pPr indent="0" marL="0">
              <a:buNone/>
            </a:pPr>
            <a:r>
              <a:rPr lang="en-US" sz="1400" b="1" dirty="0">
                <a:solidFill>
                  <a:srgbClr val="132033"/>
                </a:solidFill>
                <a:latin typeface="Yu Gothic" pitchFamily="34" charset="0"/>
                <a:ea typeface="Yu Gothic" pitchFamily="34" charset="-122"/>
                <a:cs typeface="Yu Gothic" pitchFamily="34" charset="-120"/>
              </a:rPr>
              <a:t>安否・所在・薬剤不足を短時間で把握したい</a:t>
            </a:r>
            <a:endParaRPr lang="en-US" sz="1400" dirty="0"/>
          </a:p>
        </p:txBody>
      </p:sp>
      <p:sp>
        <p:nvSpPr>
          <p:cNvPr id="10" name="Shape 8"/>
          <p:cNvSpPr/>
          <p:nvPr/>
        </p:nvSpPr>
        <p:spPr>
          <a:xfrm>
            <a:off x="4434840" y="1874520"/>
            <a:ext cx="3200400" cy="2971800"/>
          </a:xfrm>
          <a:prstGeom prst="roundRect">
            <a:avLst>
              <a:gd name="adj" fmla="val 2462"/>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1" name="Text 9"/>
          <p:cNvSpPr/>
          <p:nvPr/>
        </p:nvSpPr>
        <p:spPr>
          <a:xfrm>
            <a:off x="4663440" y="2121408"/>
            <a:ext cx="2651760" cy="274320"/>
          </a:xfrm>
          <a:prstGeom prst="rect">
            <a:avLst/>
          </a:prstGeom>
          <a:noFill/>
          <a:ln/>
        </p:spPr>
        <p:txBody>
          <a:bodyPr wrap="square" lIns="0" tIns="0" rIns="0" bIns="0" rtlCol="0" anchor="ctr"/>
          <a:lstStyle/>
          <a:p>
            <a:pPr indent="0" marL="0">
              <a:buNone/>
            </a:pPr>
            <a:r>
              <a:rPr lang="en-US" sz="1700" b="1" dirty="0">
                <a:solidFill>
                  <a:srgbClr val="257E6F"/>
                </a:solidFill>
                <a:latin typeface="Yu Gothic" pitchFamily="34" charset="0"/>
                <a:ea typeface="Yu Gothic" pitchFamily="34" charset="-122"/>
                <a:cs typeface="Yu Gothic" pitchFamily="34" charset="-120"/>
              </a:rPr>
              <a:t>通常時</a:t>
            </a:r>
            <a:endParaRPr lang="en-US" sz="1700" dirty="0"/>
          </a:p>
        </p:txBody>
      </p:sp>
      <p:sp>
        <p:nvSpPr>
          <p:cNvPr id="12" name="Text 10"/>
          <p:cNvSpPr/>
          <p:nvPr/>
        </p:nvSpPr>
        <p:spPr>
          <a:xfrm>
            <a:off x="4663440" y="2788920"/>
            <a:ext cx="2697480" cy="1325880"/>
          </a:xfrm>
          <a:prstGeom prst="rect">
            <a:avLst/>
          </a:prstGeom>
          <a:noFill/>
          <a:ln/>
        </p:spPr>
        <p:txBody>
          <a:bodyPr wrap="square" lIns="0" tIns="0" rIns="0" bIns="0" rtlCol="0" anchor="ctr">
            <a:normAutofit/>
          </a:bodyPr>
          <a:lstStyle/>
          <a:p>
            <a:pPr indent="0" marL="0">
              <a:buNone/>
            </a:pPr>
            <a:r>
              <a:rPr lang="en-US" sz="1400" b="1" dirty="0">
                <a:solidFill>
                  <a:srgbClr val="132033"/>
                </a:solidFill>
                <a:latin typeface="Yu Gothic" pitchFamily="34" charset="0"/>
                <a:ea typeface="Yu Gothic" pitchFamily="34" charset="-122"/>
                <a:cs typeface="Yu Gothic" pitchFamily="34" charset="-120"/>
              </a:rPr>
              <a:t>体調変化、足病変写真、通院困難の連絡を拾いたい</a:t>
            </a:r>
            <a:endParaRPr lang="en-US" sz="1400" dirty="0"/>
          </a:p>
        </p:txBody>
      </p:sp>
      <p:sp>
        <p:nvSpPr>
          <p:cNvPr id="13" name="Shape 11"/>
          <p:cNvSpPr/>
          <p:nvPr/>
        </p:nvSpPr>
        <p:spPr>
          <a:xfrm>
            <a:off x="8183880" y="1874520"/>
            <a:ext cx="3200400" cy="2971800"/>
          </a:xfrm>
          <a:prstGeom prst="roundRect">
            <a:avLst>
              <a:gd name="adj" fmla="val 2462"/>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4" name="Text 12"/>
          <p:cNvSpPr/>
          <p:nvPr/>
        </p:nvSpPr>
        <p:spPr>
          <a:xfrm>
            <a:off x="8412480" y="2121408"/>
            <a:ext cx="2651760" cy="274320"/>
          </a:xfrm>
          <a:prstGeom prst="rect">
            <a:avLst/>
          </a:prstGeom>
          <a:noFill/>
          <a:ln/>
        </p:spPr>
        <p:txBody>
          <a:bodyPr wrap="square" lIns="0" tIns="0" rIns="0" bIns="0" rtlCol="0" anchor="ctr"/>
          <a:lstStyle/>
          <a:p>
            <a:pPr indent="0" marL="0">
              <a:buNone/>
            </a:pPr>
            <a:r>
              <a:rPr lang="en-US" sz="1700" b="1" dirty="0">
                <a:solidFill>
                  <a:srgbClr val="C9342D"/>
                </a:solidFill>
                <a:latin typeface="Yu Gothic" pitchFamily="34" charset="0"/>
                <a:ea typeface="Yu Gothic" pitchFamily="34" charset="-122"/>
                <a:cs typeface="Yu Gothic" pitchFamily="34" charset="-120"/>
              </a:rPr>
              <a:t>医療者側</a:t>
            </a:r>
            <a:endParaRPr lang="en-US" sz="1700" dirty="0"/>
          </a:p>
        </p:txBody>
      </p:sp>
      <p:sp>
        <p:nvSpPr>
          <p:cNvPr id="15" name="Text 13"/>
          <p:cNvSpPr/>
          <p:nvPr/>
        </p:nvSpPr>
        <p:spPr>
          <a:xfrm>
            <a:off x="8412480" y="2788920"/>
            <a:ext cx="2697480" cy="1325880"/>
          </a:xfrm>
          <a:prstGeom prst="rect">
            <a:avLst/>
          </a:prstGeom>
          <a:noFill/>
          <a:ln/>
        </p:spPr>
        <p:txBody>
          <a:bodyPr wrap="square" lIns="0" tIns="0" rIns="0" bIns="0" rtlCol="0" anchor="ctr">
            <a:normAutofit/>
          </a:bodyPr>
          <a:lstStyle/>
          <a:p>
            <a:pPr indent="0" marL="0">
              <a:buNone/>
            </a:pPr>
            <a:r>
              <a:rPr lang="en-US" sz="1400" b="1" dirty="0">
                <a:solidFill>
                  <a:srgbClr val="132033"/>
                </a:solidFill>
                <a:latin typeface="Yu Gothic" pitchFamily="34" charset="0"/>
                <a:ea typeface="Yu Gothic" pitchFamily="34" charset="-122"/>
                <a:cs typeface="Yu Gothic" pitchFamily="34" charset="-120"/>
              </a:rPr>
              <a:t>電話・個別LINE・紙管理では履歴と優先順位が散らばる</a:t>
            </a:r>
            <a:endParaRPr lang="en-US" sz="1400" dirty="0"/>
          </a:p>
        </p:txBody>
      </p:sp>
      <p:sp>
        <p:nvSpPr>
          <p:cNvPr id="16" name="Text 14"/>
          <p:cNvSpPr/>
          <p:nvPr/>
        </p:nvSpPr>
        <p:spPr>
          <a:xfrm>
            <a:off x="914400" y="5650992"/>
            <a:ext cx="10332720" cy="347472"/>
          </a:xfrm>
          <a:prstGeom prst="rect">
            <a:avLst/>
          </a:prstGeom>
          <a:noFill/>
          <a:ln/>
        </p:spPr>
        <p:txBody>
          <a:bodyPr wrap="square" lIns="0" tIns="0" rIns="0" bIns="0" rtlCol="0" anchor="ctr"/>
          <a:lstStyle/>
          <a:p>
            <a:pPr algn="ctr" indent="0" marL="0">
              <a:buNone/>
            </a:pPr>
            <a:r>
              <a:rPr lang="en-US" sz="2000" b="1" dirty="0">
                <a:solidFill>
                  <a:srgbClr val="166F77"/>
                </a:solidFill>
                <a:latin typeface="Yu Gothic" pitchFamily="34" charset="0"/>
                <a:ea typeface="Yu Gothic" pitchFamily="34" charset="-122"/>
                <a:cs typeface="Yu Gothic" pitchFamily="34" charset="-120"/>
              </a:rPr>
              <a:t>必要なのは、連絡手段ではなく「要対応患者を見つける仕組み」</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コンセプト</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03</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LINEを入口に、回答・写真・位置情報を管理画面へ集約</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患者にとっては簡単、医療者にとっては一覧化・優先順位化しやすい設計</a:t>
            </a:r>
            <a:endParaRPr lang="en-US" sz="950" dirty="0"/>
          </a:p>
        </p:txBody>
      </p:sp>
      <p:sp>
        <p:nvSpPr>
          <p:cNvPr id="7" name="Shape 5"/>
          <p:cNvSpPr/>
          <p:nvPr/>
        </p:nvSpPr>
        <p:spPr>
          <a:xfrm>
            <a:off x="731520" y="1600200"/>
            <a:ext cx="2606040" cy="3886200"/>
          </a:xfrm>
          <a:prstGeom prst="roundRect">
            <a:avLst>
              <a:gd name="adj" fmla="val 6316"/>
            </a:avLst>
          </a:prstGeom>
          <a:solidFill>
            <a:srgbClr val="111827"/>
          </a:solidFill>
          <a:ln w="12700">
            <a:solidFill>
              <a:srgbClr val="111827"/>
            </a:solidFill>
            <a:prstDash val="solid"/>
          </a:ln>
        </p:spPr>
      </p:sp>
      <p:sp>
        <p:nvSpPr>
          <p:cNvPr id="8" name="Shape 6"/>
          <p:cNvSpPr/>
          <p:nvPr/>
        </p:nvSpPr>
        <p:spPr>
          <a:xfrm>
            <a:off x="841248" y="1709928"/>
            <a:ext cx="2386584" cy="3666744"/>
          </a:xfrm>
          <a:prstGeom prst="roundRect">
            <a:avLst>
              <a:gd name="adj" fmla="val 4598"/>
            </a:avLst>
          </a:prstGeom>
          <a:solidFill>
            <a:srgbClr val="EEF7F4"/>
          </a:solidFill>
          <a:ln w="12700">
            <a:solidFill>
              <a:srgbClr val="EEF7F4"/>
            </a:solidFill>
            <a:prstDash val="solid"/>
          </a:ln>
        </p:spPr>
      </p:sp>
      <p:sp>
        <p:nvSpPr>
          <p:cNvPr id="9" name="Text 7"/>
          <p:cNvSpPr/>
          <p:nvPr/>
        </p:nvSpPr>
        <p:spPr>
          <a:xfrm>
            <a:off x="960120" y="1920240"/>
            <a:ext cx="2148840" cy="228600"/>
          </a:xfrm>
          <a:prstGeom prst="rect">
            <a:avLst/>
          </a:prstGeom>
          <a:noFill/>
          <a:ln/>
        </p:spPr>
        <p:txBody>
          <a:bodyPr wrap="square" lIns="0" tIns="0" rIns="0" bIns="0" rtlCol="0" anchor="ctr"/>
          <a:lstStyle/>
          <a:p>
            <a:pPr indent="0" marL="0">
              <a:buNone/>
            </a:pPr>
            <a:r>
              <a:rPr lang="en-US" sz="840" b="1" dirty="0">
                <a:solidFill>
                  <a:srgbClr val="166F77"/>
                </a:solidFill>
                <a:latin typeface="Yu Gothic" pitchFamily="34" charset="0"/>
                <a:ea typeface="Yu Gothic" pitchFamily="34" charset="-122"/>
                <a:cs typeface="Yu Gothic" pitchFamily="34" charset="-120"/>
              </a:rPr>
              <a:t>患者さんのLINE画面</a:t>
            </a:r>
            <a:endParaRPr lang="en-US" sz="840" dirty="0"/>
          </a:p>
        </p:txBody>
      </p:sp>
      <p:sp>
        <p:nvSpPr>
          <p:cNvPr id="10" name="Shape 8"/>
          <p:cNvSpPr/>
          <p:nvPr/>
        </p:nvSpPr>
        <p:spPr>
          <a:xfrm>
            <a:off x="1024128" y="2313432"/>
            <a:ext cx="2020824" cy="1234440"/>
          </a:xfrm>
          <a:prstGeom prst="roundRect">
            <a:avLst>
              <a:gd name="adj" fmla="val 5926"/>
            </a:avLst>
          </a:prstGeom>
          <a:solidFill>
            <a:srgbClr val="FFFFFF"/>
          </a:solidFill>
          <a:ln w="12700">
            <a:solidFill>
              <a:srgbClr val="DCE6EF"/>
            </a:solidFill>
            <a:prstDash val="solid"/>
          </a:ln>
        </p:spPr>
      </p:sp>
      <p:sp>
        <p:nvSpPr>
          <p:cNvPr id="11" name="Text 9"/>
          <p:cNvSpPr/>
          <p:nvPr/>
        </p:nvSpPr>
        <p:spPr>
          <a:xfrm>
            <a:off x="1161288" y="2441448"/>
            <a:ext cx="1746504" cy="256032"/>
          </a:xfrm>
          <a:prstGeom prst="rect">
            <a:avLst/>
          </a:prstGeom>
          <a:noFill/>
          <a:ln/>
        </p:spPr>
        <p:txBody>
          <a:bodyPr wrap="square" lIns="0" tIns="0" rIns="0" bIns="0" rtlCol="0" anchor="ctr"/>
          <a:lstStyle/>
          <a:p>
            <a:pPr indent="0" marL="0">
              <a:buNone/>
            </a:pPr>
            <a:r>
              <a:rPr lang="en-US" sz="750" dirty="0">
                <a:solidFill>
                  <a:srgbClr val="132033"/>
                </a:solidFill>
                <a:latin typeface="Yu Gothic" pitchFamily="34" charset="0"/>
                <a:ea typeface="Yu Gothic" pitchFamily="34" charset="-122"/>
                <a:cs typeface="Yu Gothic" pitchFamily="34" charset="-120"/>
              </a:rPr>
              <a:t>【安否確認】現在の状況を返信してください。</a:t>
            </a:r>
            <a:endParaRPr lang="en-US" sz="750" dirty="0"/>
          </a:p>
        </p:txBody>
      </p:sp>
      <p:sp>
        <p:nvSpPr>
          <p:cNvPr id="12" name="Shape 10"/>
          <p:cNvSpPr/>
          <p:nvPr/>
        </p:nvSpPr>
        <p:spPr>
          <a:xfrm>
            <a:off x="1161288" y="2770632"/>
            <a:ext cx="1078992" cy="310896"/>
          </a:xfrm>
          <a:prstGeom prst="roundRect">
            <a:avLst>
              <a:gd name="adj" fmla="val 23529"/>
            </a:avLst>
          </a:prstGeom>
          <a:solidFill>
            <a:srgbClr val="DFF4ED"/>
          </a:solidFill>
          <a:ln w="12700">
            <a:solidFill>
              <a:srgbClr val="DFF4ED"/>
            </a:solidFill>
            <a:prstDash val="solid"/>
          </a:ln>
        </p:spPr>
      </p:sp>
      <p:sp>
        <p:nvSpPr>
          <p:cNvPr id="13" name="Text 11"/>
          <p:cNvSpPr/>
          <p:nvPr/>
        </p:nvSpPr>
        <p:spPr>
          <a:xfrm>
            <a:off x="1234440" y="2839212"/>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無事</a:t>
            </a:r>
            <a:endParaRPr lang="en-US" sz="800" dirty="0"/>
          </a:p>
        </p:txBody>
      </p:sp>
      <p:sp>
        <p:nvSpPr>
          <p:cNvPr id="14" name="Shape 12"/>
          <p:cNvSpPr/>
          <p:nvPr/>
        </p:nvSpPr>
        <p:spPr>
          <a:xfrm>
            <a:off x="2423160" y="2770632"/>
            <a:ext cx="1078992" cy="310896"/>
          </a:xfrm>
          <a:prstGeom prst="roundRect">
            <a:avLst>
              <a:gd name="adj" fmla="val 23529"/>
            </a:avLst>
          </a:prstGeom>
          <a:solidFill>
            <a:srgbClr val="DFF4ED"/>
          </a:solidFill>
          <a:ln w="12700">
            <a:solidFill>
              <a:srgbClr val="DFF4ED"/>
            </a:solidFill>
            <a:prstDash val="solid"/>
          </a:ln>
        </p:spPr>
      </p:sp>
      <p:sp>
        <p:nvSpPr>
          <p:cNvPr id="15" name="Text 13"/>
          <p:cNvSpPr/>
          <p:nvPr/>
        </p:nvSpPr>
        <p:spPr>
          <a:xfrm>
            <a:off x="2496312" y="2839212"/>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体調不良</a:t>
            </a:r>
            <a:endParaRPr lang="en-US" sz="800" dirty="0"/>
          </a:p>
        </p:txBody>
      </p:sp>
      <p:sp>
        <p:nvSpPr>
          <p:cNvPr id="16" name="Shape 14"/>
          <p:cNvSpPr/>
          <p:nvPr/>
        </p:nvSpPr>
        <p:spPr>
          <a:xfrm>
            <a:off x="1161288" y="3099816"/>
            <a:ext cx="1078992" cy="310896"/>
          </a:xfrm>
          <a:prstGeom prst="roundRect">
            <a:avLst>
              <a:gd name="adj" fmla="val 23529"/>
            </a:avLst>
          </a:prstGeom>
          <a:solidFill>
            <a:srgbClr val="DFF4ED"/>
          </a:solidFill>
          <a:ln w="12700">
            <a:solidFill>
              <a:srgbClr val="DFF4ED"/>
            </a:solidFill>
            <a:prstDash val="solid"/>
          </a:ln>
        </p:spPr>
      </p:sp>
      <p:sp>
        <p:nvSpPr>
          <p:cNvPr id="17" name="Text 15"/>
          <p:cNvSpPr/>
          <p:nvPr/>
        </p:nvSpPr>
        <p:spPr>
          <a:xfrm>
            <a:off x="1234440" y="3168396"/>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薬不足</a:t>
            </a:r>
            <a:endParaRPr lang="en-US" sz="800" dirty="0"/>
          </a:p>
        </p:txBody>
      </p:sp>
      <p:sp>
        <p:nvSpPr>
          <p:cNvPr id="18" name="Shape 16"/>
          <p:cNvSpPr/>
          <p:nvPr/>
        </p:nvSpPr>
        <p:spPr>
          <a:xfrm>
            <a:off x="2423160" y="3099816"/>
            <a:ext cx="1078992" cy="310896"/>
          </a:xfrm>
          <a:prstGeom prst="roundRect">
            <a:avLst>
              <a:gd name="adj" fmla="val 23529"/>
            </a:avLst>
          </a:prstGeom>
          <a:solidFill>
            <a:srgbClr val="DFF4ED"/>
          </a:solidFill>
          <a:ln w="12700">
            <a:solidFill>
              <a:srgbClr val="DFF4ED"/>
            </a:solidFill>
            <a:prstDash val="solid"/>
          </a:ln>
        </p:spPr>
      </p:sp>
      <p:sp>
        <p:nvSpPr>
          <p:cNvPr id="19" name="Text 17"/>
          <p:cNvSpPr/>
          <p:nvPr/>
        </p:nvSpPr>
        <p:spPr>
          <a:xfrm>
            <a:off x="2496312" y="3168396"/>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至急連絡</a:t>
            </a:r>
            <a:endParaRPr lang="en-US" sz="800" dirty="0"/>
          </a:p>
        </p:txBody>
      </p:sp>
      <p:sp>
        <p:nvSpPr>
          <p:cNvPr id="20" name="Shape 18"/>
          <p:cNvSpPr/>
          <p:nvPr/>
        </p:nvSpPr>
        <p:spPr>
          <a:xfrm>
            <a:off x="1024128" y="3749040"/>
            <a:ext cx="2020824" cy="530352"/>
          </a:xfrm>
          <a:prstGeom prst="roundRect">
            <a:avLst>
              <a:gd name="adj" fmla="val 13793"/>
            </a:avLst>
          </a:prstGeom>
          <a:solidFill>
            <a:srgbClr val="FFFFFF"/>
          </a:solidFill>
          <a:ln w="12700">
            <a:solidFill>
              <a:srgbClr val="DCE6EF"/>
            </a:solidFill>
            <a:prstDash val="solid"/>
          </a:ln>
        </p:spPr>
      </p:sp>
      <p:sp>
        <p:nvSpPr>
          <p:cNvPr id="21" name="Text 19"/>
          <p:cNvSpPr/>
          <p:nvPr/>
        </p:nvSpPr>
        <p:spPr>
          <a:xfrm>
            <a:off x="1161288" y="3922776"/>
            <a:ext cx="1746504" cy="164592"/>
          </a:xfrm>
          <a:prstGeom prst="rect">
            <a:avLst/>
          </a:prstGeom>
          <a:noFill/>
          <a:ln/>
        </p:spPr>
        <p:txBody>
          <a:bodyPr wrap="square" lIns="0" tIns="0" rIns="0" bIns="0" rtlCol="0" anchor="ctr"/>
          <a:lstStyle/>
          <a:p>
            <a:pPr indent="0" marL="0">
              <a:buNone/>
            </a:pPr>
            <a:r>
              <a:rPr lang="en-US" sz="740" dirty="0">
                <a:solidFill>
                  <a:srgbClr val="132033"/>
                </a:solidFill>
                <a:latin typeface="Yu Gothic" pitchFamily="34" charset="0"/>
                <a:ea typeface="Yu Gothic" pitchFamily="34" charset="-122"/>
                <a:cs typeface="Yu Gothic" pitchFamily="34" charset="-120"/>
              </a:rPr>
              <a:t>写真・位置情報も送信可能</a:t>
            </a:r>
            <a:endParaRPr lang="en-US" sz="740" dirty="0"/>
          </a:p>
        </p:txBody>
      </p:sp>
      <p:sp>
        <p:nvSpPr>
          <p:cNvPr id="22" name="Shape 20"/>
          <p:cNvSpPr/>
          <p:nvPr/>
        </p:nvSpPr>
        <p:spPr>
          <a:xfrm>
            <a:off x="3566160" y="3383280"/>
            <a:ext cx="1051560" cy="0"/>
          </a:xfrm>
          <a:prstGeom prst="line">
            <a:avLst/>
          </a:prstGeom>
          <a:noFill/>
          <a:ln w="25400">
            <a:solidFill>
              <a:srgbClr val="185E98"/>
            </a:solidFill>
            <a:prstDash val="solid"/>
            <a:headEnd type="none"/>
            <a:tailEnd type="triangle"/>
          </a:ln>
        </p:spPr>
      </p:sp>
      <p:sp>
        <p:nvSpPr>
          <p:cNvPr id="23" name="Shape 21"/>
          <p:cNvSpPr/>
          <p:nvPr/>
        </p:nvSpPr>
        <p:spPr>
          <a:xfrm>
            <a:off x="4846320" y="1737360"/>
            <a:ext cx="4846320" cy="3474720"/>
          </a:xfrm>
          <a:prstGeom prst="roundRect">
            <a:avLst>
              <a:gd name="adj" fmla="val 2105"/>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4" name="Text 22"/>
          <p:cNvSpPr/>
          <p:nvPr/>
        </p:nvSpPr>
        <p:spPr>
          <a:xfrm>
            <a:off x="5074920" y="1901952"/>
            <a:ext cx="4389120" cy="228600"/>
          </a:xfrm>
          <a:prstGeom prst="rect">
            <a:avLst/>
          </a:prstGeom>
          <a:noFill/>
          <a:ln/>
        </p:spPr>
        <p:txBody>
          <a:bodyPr wrap="square" lIns="0" tIns="0" rIns="0" bIns="0" rtlCol="0" anchor="ctr"/>
          <a:lstStyle/>
          <a:p>
            <a:pPr indent="0" marL="0">
              <a:buNone/>
            </a:pPr>
            <a:r>
              <a:rPr lang="en-US" sz="1100" b="1" dirty="0">
                <a:solidFill>
                  <a:srgbClr val="185E98"/>
                </a:solidFill>
                <a:latin typeface="Yu Gothic" pitchFamily="34" charset="0"/>
                <a:ea typeface="Yu Gothic" pitchFamily="34" charset="-122"/>
                <a:cs typeface="Yu Gothic" pitchFamily="34" charset="-120"/>
              </a:rPr>
              <a:t>ダッシュボード</a:t>
            </a:r>
            <a:endParaRPr lang="en-US" sz="1100" dirty="0"/>
          </a:p>
        </p:txBody>
      </p:sp>
      <p:sp>
        <p:nvSpPr>
          <p:cNvPr id="25" name="Shape 23"/>
          <p:cNvSpPr/>
          <p:nvPr/>
        </p:nvSpPr>
        <p:spPr>
          <a:xfrm>
            <a:off x="5102352" y="2313432"/>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6" name="Text 24"/>
          <p:cNvSpPr/>
          <p:nvPr/>
        </p:nvSpPr>
        <p:spPr>
          <a:xfrm>
            <a:off x="5230368" y="2432304"/>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患者数</a:t>
            </a:r>
            <a:endParaRPr lang="en-US" sz="760" dirty="0"/>
          </a:p>
        </p:txBody>
      </p:sp>
      <p:sp>
        <p:nvSpPr>
          <p:cNvPr id="27" name="Text 25"/>
          <p:cNvSpPr/>
          <p:nvPr/>
        </p:nvSpPr>
        <p:spPr>
          <a:xfrm>
            <a:off x="5230368" y="2633472"/>
            <a:ext cx="1783080" cy="384048"/>
          </a:xfrm>
          <a:prstGeom prst="rect">
            <a:avLst/>
          </a:prstGeom>
          <a:noFill/>
          <a:ln/>
        </p:spPr>
        <p:txBody>
          <a:bodyPr wrap="square" lIns="0" tIns="0" rIns="0" bIns="0" rtlCol="0" anchor="ctr"/>
          <a:lstStyle/>
          <a:p>
            <a:pPr indent="0" marL="0">
              <a:buNone/>
            </a:pPr>
            <a:r>
              <a:rPr lang="en-US" sz="2400" b="1" dirty="0">
                <a:solidFill>
                  <a:srgbClr val="132033"/>
                </a:solidFill>
                <a:latin typeface="Yu Gothic" pitchFamily="34" charset="0"/>
                <a:ea typeface="Yu Gothic" pitchFamily="34" charset="-122"/>
                <a:cs typeface="Yu Gothic" pitchFamily="34" charset="-120"/>
              </a:rPr>
              <a:t>120</a:t>
            </a:r>
            <a:endParaRPr lang="en-US" sz="2400" dirty="0"/>
          </a:p>
        </p:txBody>
      </p:sp>
      <p:sp>
        <p:nvSpPr>
          <p:cNvPr id="28" name="Shape 26"/>
          <p:cNvSpPr/>
          <p:nvPr/>
        </p:nvSpPr>
        <p:spPr>
          <a:xfrm>
            <a:off x="7333488" y="2313432"/>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9" name="Text 27"/>
          <p:cNvSpPr/>
          <p:nvPr/>
        </p:nvSpPr>
        <p:spPr>
          <a:xfrm>
            <a:off x="7461504" y="2432304"/>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回答済</a:t>
            </a:r>
            <a:endParaRPr lang="en-US" sz="760" dirty="0"/>
          </a:p>
        </p:txBody>
      </p:sp>
      <p:sp>
        <p:nvSpPr>
          <p:cNvPr id="30" name="Text 28"/>
          <p:cNvSpPr/>
          <p:nvPr/>
        </p:nvSpPr>
        <p:spPr>
          <a:xfrm>
            <a:off x="7461504" y="2633472"/>
            <a:ext cx="1783080" cy="384048"/>
          </a:xfrm>
          <a:prstGeom prst="rect">
            <a:avLst/>
          </a:prstGeom>
          <a:noFill/>
          <a:ln/>
        </p:spPr>
        <p:txBody>
          <a:bodyPr wrap="square" lIns="0" tIns="0" rIns="0" bIns="0" rtlCol="0" anchor="ctr"/>
          <a:lstStyle/>
          <a:p>
            <a:pPr indent="0" marL="0">
              <a:buNone/>
            </a:pPr>
            <a:r>
              <a:rPr lang="en-US" sz="2400" b="1" dirty="0">
                <a:solidFill>
                  <a:srgbClr val="166F77"/>
                </a:solidFill>
                <a:latin typeface="Yu Gothic" pitchFamily="34" charset="0"/>
                <a:ea typeface="Yu Gothic" pitchFamily="34" charset="-122"/>
                <a:cs typeface="Yu Gothic" pitchFamily="34" charset="-120"/>
              </a:rPr>
              <a:t>86</a:t>
            </a:r>
            <a:endParaRPr lang="en-US" sz="2400" dirty="0"/>
          </a:p>
        </p:txBody>
      </p:sp>
      <p:sp>
        <p:nvSpPr>
          <p:cNvPr id="31" name="Shape 29"/>
          <p:cNvSpPr/>
          <p:nvPr/>
        </p:nvSpPr>
        <p:spPr>
          <a:xfrm>
            <a:off x="5102352" y="333756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32" name="Text 30"/>
          <p:cNvSpPr/>
          <p:nvPr/>
        </p:nvSpPr>
        <p:spPr>
          <a:xfrm>
            <a:off x="5230368" y="345643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未回答</a:t>
            </a:r>
            <a:endParaRPr lang="en-US" sz="760" dirty="0"/>
          </a:p>
        </p:txBody>
      </p:sp>
      <p:sp>
        <p:nvSpPr>
          <p:cNvPr id="33" name="Text 31"/>
          <p:cNvSpPr/>
          <p:nvPr/>
        </p:nvSpPr>
        <p:spPr>
          <a:xfrm>
            <a:off x="5230368" y="3657600"/>
            <a:ext cx="1783080" cy="384048"/>
          </a:xfrm>
          <a:prstGeom prst="rect">
            <a:avLst/>
          </a:prstGeom>
          <a:noFill/>
          <a:ln/>
        </p:spPr>
        <p:txBody>
          <a:bodyPr wrap="square" lIns="0" tIns="0" rIns="0" bIns="0" rtlCol="0" anchor="ctr"/>
          <a:lstStyle/>
          <a:p>
            <a:pPr indent="0" marL="0">
              <a:buNone/>
            </a:pPr>
            <a:r>
              <a:rPr lang="en-US" sz="2400" b="1" dirty="0">
                <a:solidFill>
                  <a:srgbClr val="E18B2D"/>
                </a:solidFill>
                <a:latin typeface="Yu Gothic" pitchFamily="34" charset="0"/>
                <a:ea typeface="Yu Gothic" pitchFamily="34" charset="-122"/>
                <a:cs typeface="Yu Gothic" pitchFamily="34" charset="-120"/>
              </a:rPr>
              <a:t>34</a:t>
            </a:r>
            <a:endParaRPr lang="en-US" sz="2400" dirty="0"/>
          </a:p>
        </p:txBody>
      </p:sp>
      <p:sp>
        <p:nvSpPr>
          <p:cNvPr id="34" name="Shape 32"/>
          <p:cNvSpPr/>
          <p:nvPr/>
        </p:nvSpPr>
        <p:spPr>
          <a:xfrm>
            <a:off x="7333488" y="333756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35" name="Text 33"/>
          <p:cNvSpPr/>
          <p:nvPr/>
        </p:nvSpPr>
        <p:spPr>
          <a:xfrm>
            <a:off x="7461504" y="345643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緊急未対応</a:t>
            </a:r>
            <a:endParaRPr lang="en-US" sz="760" dirty="0"/>
          </a:p>
        </p:txBody>
      </p:sp>
      <p:sp>
        <p:nvSpPr>
          <p:cNvPr id="36" name="Text 34"/>
          <p:cNvSpPr/>
          <p:nvPr/>
        </p:nvSpPr>
        <p:spPr>
          <a:xfrm>
            <a:off x="7461504" y="3657600"/>
            <a:ext cx="1783080" cy="384048"/>
          </a:xfrm>
          <a:prstGeom prst="rect">
            <a:avLst/>
          </a:prstGeom>
          <a:noFill/>
          <a:ln/>
        </p:spPr>
        <p:txBody>
          <a:bodyPr wrap="square" lIns="0" tIns="0" rIns="0" bIns="0" rtlCol="0" anchor="ctr"/>
          <a:lstStyle/>
          <a:p>
            <a:pPr indent="0" marL="0">
              <a:buNone/>
            </a:pPr>
            <a:r>
              <a:rPr lang="en-US" sz="2400" b="1" dirty="0">
                <a:solidFill>
                  <a:srgbClr val="C9342D"/>
                </a:solidFill>
                <a:latin typeface="Yu Gothic" pitchFamily="34" charset="0"/>
                <a:ea typeface="Yu Gothic" pitchFamily="34" charset="-122"/>
                <a:cs typeface="Yu Gothic" pitchFamily="34" charset="-120"/>
              </a:rPr>
              <a:t>3</a:t>
            </a:r>
            <a:endParaRPr lang="en-US" sz="2400" dirty="0"/>
          </a:p>
        </p:txBody>
      </p:sp>
      <p:sp>
        <p:nvSpPr>
          <p:cNvPr id="37" name="Shape 35"/>
          <p:cNvSpPr/>
          <p:nvPr/>
        </p:nvSpPr>
        <p:spPr>
          <a:xfrm>
            <a:off x="5102352" y="4498848"/>
            <a:ext cx="4334256" cy="530352"/>
          </a:xfrm>
          <a:prstGeom prst="roundRect">
            <a:avLst>
              <a:gd name="adj" fmla="val 10345"/>
            </a:avLst>
          </a:prstGeom>
          <a:solidFill>
            <a:srgbClr val="FFF4F2"/>
          </a:solidFill>
          <a:ln w="12700">
            <a:solidFill>
              <a:srgbClr val="F1BBB8"/>
            </a:solidFill>
            <a:prstDash val="solid"/>
          </a:ln>
        </p:spPr>
      </p:sp>
      <p:sp>
        <p:nvSpPr>
          <p:cNvPr id="38" name="Text 36"/>
          <p:cNvSpPr/>
          <p:nvPr/>
        </p:nvSpPr>
        <p:spPr>
          <a:xfrm>
            <a:off x="5257800" y="4663440"/>
            <a:ext cx="4023360" cy="164592"/>
          </a:xfrm>
          <a:prstGeom prst="rect">
            <a:avLst/>
          </a:prstGeom>
          <a:noFill/>
          <a:ln/>
        </p:spPr>
        <p:txBody>
          <a:bodyPr wrap="square" lIns="0" tIns="0" rIns="0" bIns="0" rtlCol="0" anchor="ctr"/>
          <a:lstStyle/>
          <a:p>
            <a:pPr indent="0" marL="0">
              <a:buNone/>
            </a:pPr>
            <a:r>
              <a:rPr lang="en-US" sz="750" b="1" dirty="0">
                <a:solidFill>
                  <a:srgbClr val="C9342D"/>
                </a:solidFill>
                <a:latin typeface="Yu Gothic" pitchFamily="34" charset="0"/>
                <a:ea typeface="Yu Gothic" pitchFamily="34" charset="-122"/>
                <a:cs typeface="Yu Gothic" pitchFamily="34" charset="-120"/>
              </a:rPr>
              <a:t>重症アラート: 至急確認が必要な回答を優先表示</a:t>
            </a:r>
            <a:endParaRPr lang="en-US" sz="750" dirty="0"/>
          </a:p>
        </p:txBody>
      </p:sp>
      <p:sp>
        <p:nvSpPr>
          <p:cNvPr id="39" name="Shape 37"/>
          <p:cNvSpPr/>
          <p:nvPr/>
        </p:nvSpPr>
        <p:spPr>
          <a:xfrm>
            <a:off x="9829800" y="3383280"/>
            <a:ext cx="886968" cy="0"/>
          </a:xfrm>
          <a:prstGeom prst="line">
            <a:avLst/>
          </a:prstGeom>
          <a:noFill/>
          <a:ln w="25400">
            <a:solidFill>
              <a:srgbClr val="257E6F"/>
            </a:solidFill>
            <a:prstDash val="solid"/>
            <a:headEnd type="none"/>
            <a:tailEnd type="triangle"/>
          </a:ln>
        </p:spPr>
      </p:sp>
      <p:sp>
        <p:nvSpPr>
          <p:cNvPr id="40" name="Shape 38"/>
          <p:cNvSpPr/>
          <p:nvPr/>
        </p:nvSpPr>
        <p:spPr>
          <a:xfrm>
            <a:off x="10835640" y="2057400"/>
            <a:ext cx="1005840" cy="2651760"/>
          </a:xfrm>
          <a:prstGeom prst="roundRect">
            <a:avLst>
              <a:gd name="adj" fmla="val 7273"/>
            </a:avLst>
          </a:prstGeom>
          <a:solidFill>
            <a:srgbClr val="DFF4ED"/>
          </a:solidFill>
          <a:ln w="12700">
            <a:solidFill>
              <a:srgbClr val="DCE6EF"/>
            </a:solidFill>
            <a:prstDash val="solid"/>
          </a:ln>
        </p:spPr>
      </p:sp>
      <p:sp>
        <p:nvSpPr>
          <p:cNvPr id="41" name="Text 39"/>
          <p:cNvSpPr/>
          <p:nvPr/>
        </p:nvSpPr>
        <p:spPr>
          <a:xfrm>
            <a:off x="10991088" y="2926080"/>
            <a:ext cx="731520" cy="320040"/>
          </a:xfrm>
          <a:prstGeom prst="rect">
            <a:avLst/>
          </a:prstGeom>
          <a:noFill/>
          <a:ln/>
        </p:spPr>
        <p:txBody>
          <a:bodyPr wrap="square" lIns="0" tIns="0" rIns="0" bIns="0" rtlCol="0" anchor="ctr"/>
          <a:lstStyle/>
          <a:p>
            <a:pPr algn="ctr" indent="0" marL="0">
              <a:buNone/>
            </a:pPr>
            <a:r>
              <a:rPr lang="en-US" sz="1800" b="1" dirty="0">
                <a:solidFill>
                  <a:srgbClr val="166F77"/>
                </a:solidFill>
                <a:latin typeface="Yu Gothic" pitchFamily="34" charset="0"/>
                <a:ea typeface="Yu Gothic" pitchFamily="34" charset="-122"/>
                <a:cs typeface="Yu Gothic" pitchFamily="34" charset="-120"/>
              </a:rPr>
              <a:t>対応</a:t>
            </a:r>
            <a:endParaRPr lang="en-US" sz="1800" dirty="0"/>
          </a:p>
        </p:txBody>
      </p:sp>
      <p:sp>
        <p:nvSpPr>
          <p:cNvPr id="42" name="Shape 40"/>
          <p:cNvSpPr/>
          <p:nvPr/>
        </p:nvSpPr>
        <p:spPr>
          <a:xfrm>
            <a:off x="960120" y="5897880"/>
            <a:ext cx="1554480" cy="310896"/>
          </a:xfrm>
          <a:prstGeom prst="roundRect">
            <a:avLst>
              <a:gd name="adj" fmla="val 23529"/>
            </a:avLst>
          </a:prstGeom>
          <a:solidFill>
            <a:srgbClr val="DFF4ED"/>
          </a:solidFill>
          <a:ln w="12700">
            <a:solidFill>
              <a:srgbClr val="DFF4ED"/>
            </a:solidFill>
            <a:prstDash val="solid"/>
          </a:ln>
        </p:spPr>
      </p:sp>
      <p:sp>
        <p:nvSpPr>
          <p:cNvPr id="43" name="Text 41"/>
          <p:cNvSpPr/>
          <p:nvPr/>
        </p:nvSpPr>
        <p:spPr>
          <a:xfrm>
            <a:off x="1033272" y="5966460"/>
            <a:ext cx="140817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ボタン回答</a:t>
            </a:r>
            <a:endParaRPr lang="en-US" sz="800" dirty="0"/>
          </a:p>
        </p:txBody>
      </p:sp>
      <p:sp>
        <p:nvSpPr>
          <p:cNvPr id="44" name="Shape 42"/>
          <p:cNvSpPr/>
          <p:nvPr/>
        </p:nvSpPr>
        <p:spPr>
          <a:xfrm>
            <a:off x="3017520" y="5897880"/>
            <a:ext cx="1554480" cy="310896"/>
          </a:xfrm>
          <a:prstGeom prst="roundRect">
            <a:avLst>
              <a:gd name="adj" fmla="val 23529"/>
            </a:avLst>
          </a:prstGeom>
          <a:solidFill>
            <a:srgbClr val="EAF4F7"/>
          </a:solidFill>
          <a:ln w="12700">
            <a:solidFill>
              <a:srgbClr val="EAF4F7"/>
            </a:solidFill>
            <a:prstDash val="solid"/>
          </a:ln>
        </p:spPr>
      </p:sp>
      <p:sp>
        <p:nvSpPr>
          <p:cNvPr id="45" name="Text 43"/>
          <p:cNvSpPr/>
          <p:nvPr/>
        </p:nvSpPr>
        <p:spPr>
          <a:xfrm>
            <a:off x="3090672" y="5966460"/>
            <a:ext cx="140817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写真</a:t>
            </a:r>
            <a:endParaRPr lang="en-US" sz="800" dirty="0"/>
          </a:p>
        </p:txBody>
      </p:sp>
      <p:sp>
        <p:nvSpPr>
          <p:cNvPr id="46" name="Shape 44"/>
          <p:cNvSpPr/>
          <p:nvPr/>
        </p:nvSpPr>
        <p:spPr>
          <a:xfrm>
            <a:off x="5074920" y="5897880"/>
            <a:ext cx="1554480" cy="310896"/>
          </a:xfrm>
          <a:prstGeom prst="roundRect">
            <a:avLst>
              <a:gd name="adj" fmla="val 23529"/>
            </a:avLst>
          </a:prstGeom>
          <a:solidFill>
            <a:srgbClr val="DFF4ED"/>
          </a:solidFill>
          <a:ln w="12700">
            <a:solidFill>
              <a:srgbClr val="DFF4ED"/>
            </a:solidFill>
            <a:prstDash val="solid"/>
          </a:ln>
        </p:spPr>
      </p:sp>
      <p:sp>
        <p:nvSpPr>
          <p:cNvPr id="47" name="Text 45"/>
          <p:cNvSpPr/>
          <p:nvPr/>
        </p:nvSpPr>
        <p:spPr>
          <a:xfrm>
            <a:off x="5148072" y="5966460"/>
            <a:ext cx="140817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位置情報</a:t>
            </a:r>
            <a:endParaRPr lang="en-US" sz="800" dirty="0"/>
          </a:p>
        </p:txBody>
      </p:sp>
      <p:sp>
        <p:nvSpPr>
          <p:cNvPr id="48" name="Shape 46"/>
          <p:cNvSpPr/>
          <p:nvPr/>
        </p:nvSpPr>
        <p:spPr>
          <a:xfrm>
            <a:off x="7132320" y="5897880"/>
            <a:ext cx="1554480" cy="310896"/>
          </a:xfrm>
          <a:prstGeom prst="roundRect">
            <a:avLst>
              <a:gd name="adj" fmla="val 23529"/>
            </a:avLst>
          </a:prstGeom>
          <a:solidFill>
            <a:srgbClr val="EAF4F7"/>
          </a:solidFill>
          <a:ln w="12700">
            <a:solidFill>
              <a:srgbClr val="EAF4F7"/>
            </a:solidFill>
            <a:prstDash val="solid"/>
          </a:ln>
        </p:spPr>
      </p:sp>
      <p:sp>
        <p:nvSpPr>
          <p:cNvPr id="49" name="Text 47"/>
          <p:cNvSpPr/>
          <p:nvPr/>
        </p:nvSpPr>
        <p:spPr>
          <a:xfrm>
            <a:off x="7205472" y="5966460"/>
            <a:ext cx="140817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履歴保存</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システム構成</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04</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Render上のWebアプリを中心に、LINEとGoogle Workspaceを連携</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施設IDごとにLINE・Google Sheets・Driveを分離して運用できる</a:t>
            </a:r>
            <a:endParaRPr lang="en-US" sz="950" dirty="0"/>
          </a:p>
        </p:txBody>
      </p:sp>
      <p:sp>
        <p:nvSpPr>
          <p:cNvPr id="7" name="Shape 5"/>
          <p:cNvSpPr/>
          <p:nvPr/>
        </p:nvSpPr>
        <p:spPr>
          <a:xfrm>
            <a:off x="640080" y="182880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Text 6"/>
          <p:cNvSpPr/>
          <p:nvPr/>
        </p:nvSpPr>
        <p:spPr>
          <a:xfrm>
            <a:off x="749808" y="202996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166F77"/>
                </a:solidFill>
                <a:latin typeface="Yu Gothic" pitchFamily="34" charset="0"/>
                <a:ea typeface="Yu Gothic" pitchFamily="34" charset="-122"/>
                <a:cs typeface="Yu Gothic" pitchFamily="34" charset="-120"/>
              </a:rPr>
              <a:t>患者LINE</a:t>
            </a:r>
            <a:endParaRPr lang="en-US" sz="1050" dirty="0"/>
          </a:p>
        </p:txBody>
      </p:sp>
      <p:sp>
        <p:nvSpPr>
          <p:cNvPr id="9" name="Shape 7"/>
          <p:cNvSpPr/>
          <p:nvPr/>
        </p:nvSpPr>
        <p:spPr>
          <a:xfrm>
            <a:off x="2834640" y="182880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0" name="Text 8"/>
          <p:cNvSpPr/>
          <p:nvPr/>
        </p:nvSpPr>
        <p:spPr>
          <a:xfrm>
            <a:off x="2944368" y="202996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185E98"/>
                </a:solidFill>
                <a:latin typeface="Yu Gothic" pitchFamily="34" charset="0"/>
                <a:ea typeface="Yu Gothic" pitchFamily="34" charset="-122"/>
                <a:cs typeface="Yu Gothic" pitchFamily="34" charset="-120"/>
              </a:rPr>
              <a:t>LINE Messaging API</a:t>
            </a:r>
            <a:endParaRPr lang="en-US" sz="1050" dirty="0"/>
          </a:p>
        </p:txBody>
      </p:sp>
      <p:sp>
        <p:nvSpPr>
          <p:cNvPr id="11" name="Shape 9"/>
          <p:cNvSpPr/>
          <p:nvPr/>
        </p:nvSpPr>
        <p:spPr>
          <a:xfrm>
            <a:off x="5166360" y="169164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2" name="Text 10"/>
          <p:cNvSpPr/>
          <p:nvPr/>
        </p:nvSpPr>
        <p:spPr>
          <a:xfrm>
            <a:off x="5276088" y="189280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132033"/>
                </a:solidFill>
                <a:latin typeface="Yu Gothic" pitchFamily="34" charset="0"/>
                <a:ea typeface="Yu Gothic" pitchFamily="34" charset="-122"/>
                <a:cs typeface="Yu Gothic" pitchFamily="34" charset="-120"/>
              </a:rPr>
              <a:t>MedSafety Link\n(Render)</a:t>
            </a:r>
            <a:endParaRPr lang="en-US" sz="1050" dirty="0"/>
          </a:p>
        </p:txBody>
      </p:sp>
      <p:sp>
        <p:nvSpPr>
          <p:cNvPr id="13" name="Shape 11"/>
          <p:cNvSpPr/>
          <p:nvPr/>
        </p:nvSpPr>
        <p:spPr>
          <a:xfrm>
            <a:off x="7818120" y="123444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4" name="Text 12"/>
          <p:cNvSpPr/>
          <p:nvPr/>
        </p:nvSpPr>
        <p:spPr>
          <a:xfrm>
            <a:off x="7927848" y="143560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257E6F"/>
                </a:solidFill>
                <a:latin typeface="Yu Gothic" pitchFamily="34" charset="0"/>
                <a:ea typeface="Yu Gothic" pitchFamily="34" charset="-122"/>
                <a:cs typeface="Yu Gothic" pitchFamily="34" charset="-120"/>
              </a:rPr>
              <a:t>Google Sheets\n患者・回答・履歴</a:t>
            </a:r>
            <a:endParaRPr lang="en-US" sz="1050" dirty="0"/>
          </a:p>
        </p:txBody>
      </p:sp>
      <p:sp>
        <p:nvSpPr>
          <p:cNvPr id="15" name="Shape 13"/>
          <p:cNvSpPr/>
          <p:nvPr/>
        </p:nvSpPr>
        <p:spPr>
          <a:xfrm>
            <a:off x="7818120" y="278892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6" name="Text 14"/>
          <p:cNvSpPr/>
          <p:nvPr/>
        </p:nvSpPr>
        <p:spPr>
          <a:xfrm>
            <a:off x="7927848" y="299008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E18B2D"/>
                </a:solidFill>
                <a:latin typeface="Yu Gothic" pitchFamily="34" charset="0"/>
                <a:ea typeface="Yu Gothic" pitchFamily="34" charset="-122"/>
                <a:cs typeface="Yu Gothic" pitchFamily="34" charset="-120"/>
              </a:rPr>
              <a:t>Google Drive\n写真保存</a:t>
            </a:r>
            <a:endParaRPr lang="en-US" sz="1050" dirty="0"/>
          </a:p>
        </p:txBody>
      </p:sp>
      <p:sp>
        <p:nvSpPr>
          <p:cNvPr id="17" name="Shape 15"/>
          <p:cNvSpPr/>
          <p:nvPr/>
        </p:nvSpPr>
        <p:spPr>
          <a:xfrm>
            <a:off x="9966960" y="2011680"/>
            <a:ext cx="178308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8" name="Text 16"/>
          <p:cNvSpPr/>
          <p:nvPr/>
        </p:nvSpPr>
        <p:spPr>
          <a:xfrm>
            <a:off x="10076688" y="2212848"/>
            <a:ext cx="1554480" cy="347472"/>
          </a:xfrm>
          <a:prstGeom prst="rect">
            <a:avLst/>
          </a:prstGeom>
          <a:noFill/>
          <a:ln/>
        </p:spPr>
        <p:txBody>
          <a:bodyPr wrap="square" lIns="0" tIns="0" rIns="0" bIns="0" rtlCol="0" anchor="ctr">
            <a:normAutofit/>
          </a:bodyPr>
          <a:lstStyle/>
          <a:p>
            <a:pPr algn="ctr" indent="0" marL="0">
              <a:buNone/>
            </a:pPr>
            <a:r>
              <a:rPr lang="en-US" sz="1050" b="1" dirty="0">
                <a:solidFill>
                  <a:srgbClr val="C9342D"/>
                </a:solidFill>
                <a:latin typeface="Yu Gothic" pitchFamily="34" charset="0"/>
                <a:ea typeface="Yu Gothic" pitchFamily="34" charset="-122"/>
                <a:cs typeface="Yu Gothic" pitchFamily="34" charset="-120"/>
              </a:rPr>
              <a:t>Looker Studio\n可視化</a:t>
            </a:r>
            <a:endParaRPr lang="en-US" sz="1050" dirty="0"/>
          </a:p>
        </p:txBody>
      </p:sp>
      <p:sp>
        <p:nvSpPr>
          <p:cNvPr id="19" name="Shape 17"/>
          <p:cNvSpPr/>
          <p:nvPr/>
        </p:nvSpPr>
        <p:spPr>
          <a:xfrm>
            <a:off x="2450592" y="2267712"/>
            <a:ext cx="384048" cy="0"/>
          </a:xfrm>
          <a:prstGeom prst="line">
            <a:avLst/>
          </a:prstGeom>
          <a:noFill/>
          <a:ln w="25400">
            <a:solidFill>
              <a:srgbClr val="185E98"/>
            </a:solidFill>
            <a:prstDash val="solid"/>
            <a:headEnd type="none"/>
            <a:tailEnd type="triangle"/>
          </a:ln>
        </p:spPr>
      </p:sp>
      <p:sp>
        <p:nvSpPr>
          <p:cNvPr id="20" name="Shape 18"/>
          <p:cNvSpPr/>
          <p:nvPr/>
        </p:nvSpPr>
        <p:spPr>
          <a:xfrm>
            <a:off x="4617720" y="2267712"/>
            <a:ext cx="548640" cy="0"/>
          </a:xfrm>
          <a:prstGeom prst="line">
            <a:avLst/>
          </a:prstGeom>
          <a:noFill/>
          <a:ln w="25400">
            <a:solidFill>
              <a:srgbClr val="185E98"/>
            </a:solidFill>
            <a:prstDash val="solid"/>
            <a:headEnd type="none"/>
            <a:tailEnd type="triangle"/>
          </a:ln>
        </p:spPr>
      </p:sp>
      <p:sp>
        <p:nvSpPr>
          <p:cNvPr id="21" name="Shape 19"/>
          <p:cNvSpPr/>
          <p:nvPr/>
        </p:nvSpPr>
        <p:spPr>
          <a:xfrm>
            <a:off x="6995160" y="2148840"/>
            <a:ext cx="822960" cy="-484632"/>
          </a:xfrm>
          <a:prstGeom prst="line">
            <a:avLst/>
          </a:prstGeom>
          <a:noFill/>
          <a:ln w="25400">
            <a:solidFill>
              <a:srgbClr val="257E6F"/>
            </a:solidFill>
            <a:prstDash val="solid"/>
            <a:headEnd type="none"/>
            <a:tailEnd type="triangle"/>
          </a:ln>
        </p:spPr>
      </p:sp>
      <p:sp>
        <p:nvSpPr>
          <p:cNvPr id="22" name="Shape 20"/>
          <p:cNvSpPr/>
          <p:nvPr/>
        </p:nvSpPr>
        <p:spPr>
          <a:xfrm>
            <a:off x="6995160" y="2487168"/>
            <a:ext cx="822960" cy="694944"/>
          </a:xfrm>
          <a:prstGeom prst="line">
            <a:avLst/>
          </a:prstGeom>
          <a:noFill/>
          <a:ln w="25400">
            <a:solidFill>
              <a:srgbClr val="E18B2D"/>
            </a:solidFill>
            <a:prstDash val="solid"/>
            <a:headEnd type="none"/>
            <a:tailEnd type="triangle"/>
          </a:ln>
        </p:spPr>
      </p:sp>
      <p:sp>
        <p:nvSpPr>
          <p:cNvPr id="23" name="Shape 21"/>
          <p:cNvSpPr/>
          <p:nvPr/>
        </p:nvSpPr>
        <p:spPr>
          <a:xfrm>
            <a:off x="9601200" y="1664208"/>
            <a:ext cx="365760" cy="603504"/>
          </a:xfrm>
          <a:prstGeom prst="line">
            <a:avLst/>
          </a:prstGeom>
          <a:noFill/>
          <a:ln w="25400">
            <a:solidFill>
              <a:srgbClr val="C9342D"/>
            </a:solidFill>
            <a:prstDash val="solid"/>
            <a:headEnd type="none"/>
            <a:tailEnd type="triangle"/>
          </a:ln>
        </p:spPr>
      </p:sp>
      <p:sp>
        <p:nvSpPr>
          <p:cNvPr id="24" name="Shape 22"/>
          <p:cNvSpPr/>
          <p:nvPr/>
        </p:nvSpPr>
        <p:spPr>
          <a:xfrm>
            <a:off x="1143000" y="4983480"/>
            <a:ext cx="9966960" cy="749808"/>
          </a:xfrm>
          <a:prstGeom prst="roundRect">
            <a:avLst>
              <a:gd name="adj" fmla="val 9756"/>
            </a:avLst>
          </a:prstGeom>
          <a:solidFill>
            <a:srgbClr val="EAF4F7"/>
          </a:solidFill>
          <a:ln w="12700">
            <a:solidFill>
              <a:srgbClr val="DCE6EF"/>
            </a:solidFill>
            <a:prstDash val="solid"/>
          </a:ln>
        </p:spPr>
      </p:sp>
      <p:sp>
        <p:nvSpPr>
          <p:cNvPr id="25" name="Text 23"/>
          <p:cNvSpPr/>
          <p:nvPr/>
        </p:nvSpPr>
        <p:spPr>
          <a:xfrm>
            <a:off x="1371600" y="5230368"/>
            <a:ext cx="9509760" cy="182880"/>
          </a:xfrm>
          <a:prstGeom prst="rect">
            <a:avLst/>
          </a:prstGeom>
          <a:noFill/>
          <a:ln/>
        </p:spPr>
        <p:txBody>
          <a:bodyPr wrap="square" lIns="0" tIns="0" rIns="0" bIns="0" rtlCol="0" anchor="ctr"/>
          <a:lstStyle/>
          <a:p>
            <a:pPr algn="ctr" indent="0" marL="0">
              <a:buNone/>
            </a:pPr>
            <a:r>
              <a:rPr lang="en-US" sz="1100" b="1" dirty="0">
                <a:solidFill>
                  <a:srgbClr val="132033"/>
                </a:solidFill>
                <a:latin typeface="Yu Gothic" pitchFamily="34" charset="0"/>
                <a:ea typeface="Yu Gothic" pitchFamily="34" charset="-122"/>
                <a:cs typeface="Yu Gothic" pitchFamily="34" charset="-120"/>
              </a:rPr>
              <a:t>施設ごとの設定: 施設ID / パスワード / LINEチャネル / Googleスプレッドシート / Driveフォルダ</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機能</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05</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医療者側の画面は“対応が必要な人から見る”ために設計</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一斉送信、未回答再送、回答履歴、個別送信を一つの管理画面に集約</a:t>
            </a:r>
            <a:endParaRPr lang="en-US" sz="950" dirty="0"/>
          </a:p>
        </p:txBody>
      </p:sp>
      <p:sp>
        <p:nvSpPr>
          <p:cNvPr id="7" name="Shape 5"/>
          <p:cNvSpPr/>
          <p:nvPr/>
        </p:nvSpPr>
        <p:spPr>
          <a:xfrm>
            <a:off x="685800" y="1572768"/>
            <a:ext cx="5120640" cy="3886200"/>
          </a:xfrm>
          <a:prstGeom prst="roundRect">
            <a:avLst>
              <a:gd name="adj" fmla="val 1882"/>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Text 6"/>
          <p:cNvSpPr/>
          <p:nvPr/>
        </p:nvSpPr>
        <p:spPr>
          <a:xfrm>
            <a:off x="914400" y="1737360"/>
            <a:ext cx="4663440" cy="228600"/>
          </a:xfrm>
          <a:prstGeom prst="rect">
            <a:avLst/>
          </a:prstGeom>
          <a:noFill/>
          <a:ln/>
        </p:spPr>
        <p:txBody>
          <a:bodyPr wrap="square" lIns="0" tIns="0" rIns="0" bIns="0" rtlCol="0" anchor="ctr"/>
          <a:lstStyle/>
          <a:p>
            <a:pPr indent="0" marL="0">
              <a:buNone/>
            </a:pPr>
            <a:r>
              <a:rPr lang="en-US" sz="1100" b="1" dirty="0">
                <a:solidFill>
                  <a:srgbClr val="185E98"/>
                </a:solidFill>
                <a:latin typeface="Yu Gothic" pitchFamily="34" charset="0"/>
                <a:ea typeface="Yu Gothic" pitchFamily="34" charset="-122"/>
                <a:cs typeface="Yu Gothic" pitchFamily="34" charset="-120"/>
              </a:rPr>
              <a:t>ダッシュボード</a:t>
            </a:r>
            <a:endParaRPr lang="en-US" sz="1100" dirty="0"/>
          </a:p>
        </p:txBody>
      </p:sp>
      <p:sp>
        <p:nvSpPr>
          <p:cNvPr id="9" name="Shape 7"/>
          <p:cNvSpPr/>
          <p:nvPr/>
        </p:nvSpPr>
        <p:spPr>
          <a:xfrm>
            <a:off x="941832" y="214884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0" name="Text 8"/>
          <p:cNvSpPr/>
          <p:nvPr/>
        </p:nvSpPr>
        <p:spPr>
          <a:xfrm>
            <a:off x="1069848" y="226771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患者数</a:t>
            </a:r>
            <a:endParaRPr lang="en-US" sz="760" dirty="0"/>
          </a:p>
        </p:txBody>
      </p:sp>
      <p:sp>
        <p:nvSpPr>
          <p:cNvPr id="11" name="Text 9"/>
          <p:cNvSpPr/>
          <p:nvPr/>
        </p:nvSpPr>
        <p:spPr>
          <a:xfrm>
            <a:off x="1069848" y="2468880"/>
            <a:ext cx="1783080" cy="384048"/>
          </a:xfrm>
          <a:prstGeom prst="rect">
            <a:avLst/>
          </a:prstGeom>
          <a:noFill/>
          <a:ln/>
        </p:spPr>
        <p:txBody>
          <a:bodyPr wrap="square" lIns="0" tIns="0" rIns="0" bIns="0" rtlCol="0" anchor="ctr"/>
          <a:lstStyle/>
          <a:p>
            <a:pPr indent="0" marL="0">
              <a:buNone/>
            </a:pPr>
            <a:r>
              <a:rPr lang="en-US" sz="2400" b="1" dirty="0">
                <a:solidFill>
                  <a:srgbClr val="132033"/>
                </a:solidFill>
                <a:latin typeface="Yu Gothic" pitchFamily="34" charset="0"/>
                <a:ea typeface="Yu Gothic" pitchFamily="34" charset="-122"/>
                <a:cs typeface="Yu Gothic" pitchFamily="34" charset="-120"/>
              </a:rPr>
              <a:t>120</a:t>
            </a:r>
            <a:endParaRPr lang="en-US" sz="2400" dirty="0"/>
          </a:p>
        </p:txBody>
      </p:sp>
      <p:sp>
        <p:nvSpPr>
          <p:cNvPr id="12" name="Shape 10"/>
          <p:cNvSpPr/>
          <p:nvPr/>
        </p:nvSpPr>
        <p:spPr>
          <a:xfrm>
            <a:off x="3172968" y="214884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3" name="Text 11"/>
          <p:cNvSpPr/>
          <p:nvPr/>
        </p:nvSpPr>
        <p:spPr>
          <a:xfrm>
            <a:off x="3300984" y="226771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回答済</a:t>
            </a:r>
            <a:endParaRPr lang="en-US" sz="760" dirty="0"/>
          </a:p>
        </p:txBody>
      </p:sp>
      <p:sp>
        <p:nvSpPr>
          <p:cNvPr id="14" name="Text 12"/>
          <p:cNvSpPr/>
          <p:nvPr/>
        </p:nvSpPr>
        <p:spPr>
          <a:xfrm>
            <a:off x="3300984" y="2468880"/>
            <a:ext cx="1783080" cy="384048"/>
          </a:xfrm>
          <a:prstGeom prst="rect">
            <a:avLst/>
          </a:prstGeom>
          <a:noFill/>
          <a:ln/>
        </p:spPr>
        <p:txBody>
          <a:bodyPr wrap="square" lIns="0" tIns="0" rIns="0" bIns="0" rtlCol="0" anchor="ctr"/>
          <a:lstStyle/>
          <a:p>
            <a:pPr indent="0" marL="0">
              <a:buNone/>
            </a:pPr>
            <a:r>
              <a:rPr lang="en-US" sz="2400" b="1" dirty="0">
                <a:solidFill>
                  <a:srgbClr val="166F77"/>
                </a:solidFill>
                <a:latin typeface="Yu Gothic" pitchFamily="34" charset="0"/>
                <a:ea typeface="Yu Gothic" pitchFamily="34" charset="-122"/>
                <a:cs typeface="Yu Gothic" pitchFamily="34" charset="-120"/>
              </a:rPr>
              <a:t>86</a:t>
            </a:r>
            <a:endParaRPr lang="en-US" sz="2400" dirty="0"/>
          </a:p>
        </p:txBody>
      </p:sp>
      <p:sp>
        <p:nvSpPr>
          <p:cNvPr id="15" name="Shape 13"/>
          <p:cNvSpPr/>
          <p:nvPr/>
        </p:nvSpPr>
        <p:spPr>
          <a:xfrm>
            <a:off x="941832" y="3172968"/>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6" name="Text 14"/>
          <p:cNvSpPr/>
          <p:nvPr/>
        </p:nvSpPr>
        <p:spPr>
          <a:xfrm>
            <a:off x="1069848" y="3291840"/>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未回答</a:t>
            </a:r>
            <a:endParaRPr lang="en-US" sz="760" dirty="0"/>
          </a:p>
        </p:txBody>
      </p:sp>
      <p:sp>
        <p:nvSpPr>
          <p:cNvPr id="17" name="Text 15"/>
          <p:cNvSpPr/>
          <p:nvPr/>
        </p:nvSpPr>
        <p:spPr>
          <a:xfrm>
            <a:off x="1069848" y="3493008"/>
            <a:ext cx="1783080" cy="384048"/>
          </a:xfrm>
          <a:prstGeom prst="rect">
            <a:avLst/>
          </a:prstGeom>
          <a:noFill/>
          <a:ln/>
        </p:spPr>
        <p:txBody>
          <a:bodyPr wrap="square" lIns="0" tIns="0" rIns="0" bIns="0" rtlCol="0" anchor="ctr"/>
          <a:lstStyle/>
          <a:p>
            <a:pPr indent="0" marL="0">
              <a:buNone/>
            </a:pPr>
            <a:r>
              <a:rPr lang="en-US" sz="2400" b="1" dirty="0">
                <a:solidFill>
                  <a:srgbClr val="E18B2D"/>
                </a:solidFill>
                <a:latin typeface="Yu Gothic" pitchFamily="34" charset="0"/>
                <a:ea typeface="Yu Gothic" pitchFamily="34" charset="-122"/>
                <a:cs typeface="Yu Gothic" pitchFamily="34" charset="-120"/>
              </a:rPr>
              <a:t>34</a:t>
            </a:r>
            <a:endParaRPr lang="en-US" sz="2400" dirty="0"/>
          </a:p>
        </p:txBody>
      </p:sp>
      <p:sp>
        <p:nvSpPr>
          <p:cNvPr id="18" name="Shape 16"/>
          <p:cNvSpPr/>
          <p:nvPr/>
        </p:nvSpPr>
        <p:spPr>
          <a:xfrm>
            <a:off x="3172968" y="3172968"/>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9" name="Text 17"/>
          <p:cNvSpPr/>
          <p:nvPr/>
        </p:nvSpPr>
        <p:spPr>
          <a:xfrm>
            <a:off x="3300984" y="3291840"/>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緊急未対応</a:t>
            </a:r>
            <a:endParaRPr lang="en-US" sz="760" dirty="0"/>
          </a:p>
        </p:txBody>
      </p:sp>
      <p:sp>
        <p:nvSpPr>
          <p:cNvPr id="20" name="Text 18"/>
          <p:cNvSpPr/>
          <p:nvPr/>
        </p:nvSpPr>
        <p:spPr>
          <a:xfrm>
            <a:off x="3300984" y="3493008"/>
            <a:ext cx="1783080" cy="384048"/>
          </a:xfrm>
          <a:prstGeom prst="rect">
            <a:avLst/>
          </a:prstGeom>
          <a:noFill/>
          <a:ln/>
        </p:spPr>
        <p:txBody>
          <a:bodyPr wrap="square" lIns="0" tIns="0" rIns="0" bIns="0" rtlCol="0" anchor="ctr"/>
          <a:lstStyle/>
          <a:p>
            <a:pPr indent="0" marL="0">
              <a:buNone/>
            </a:pPr>
            <a:r>
              <a:rPr lang="en-US" sz="2400" b="1" dirty="0">
                <a:solidFill>
                  <a:srgbClr val="C9342D"/>
                </a:solidFill>
                <a:latin typeface="Yu Gothic" pitchFamily="34" charset="0"/>
                <a:ea typeface="Yu Gothic" pitchFamily="34" charset="-122"/>
                <a:cs typeface="Yu Gothic" pitchFamily="34" charset="-120"/>
              </a:rPr>
              <a:t>3</a:t>
            </a:r>
            <a:endParaRPr lang="en-US" sz="2400" dirty="0"/>
          </a:p>
        </p:txBody>
      </p:sp>
      <p:sp>
        <p:nvSpPr>
          <p:cNvPr id="21" name="Shape 19"/>
          <p:cNvSpPr/>
          <p:nvPr/>
        </p:nvSpPr>
        <p:spPr>
          <a:xfrm>
            <a:off x="941832" y="4334256"/>
            <a:ext cx="4608576" cy="530352"/>
          </a:xfrm>
          <a:prstGeom prst="roundRect">
            <a:avLst>
              <a:gd name="adj" fmla="val 10345"/>
            </a:avLst>
          </a:prstGeom>
          <a:solidFill>
            <a:srgbClr val="FFF4F2"/>
          </a:solidFill>
          <a:ln w="12700">
            <a:solidFill>
              <a:srgbClr val="F1BBB8"/>
            </a:solidFill>
            <a:prstDash val="solid"/>
          </a:ln>
        </p:spPr>
      </p:sp>
      <p:sp>
        <p:nvSpPr>
          <p:cNvPr id="22" name="Text 20"/>
          <p:cNvSpPr/>
          <p:nvPr/>
        </p:nvSpPr>
        <p:spPr>
          <a:xfrm>
            <a:off x="1097280" y="4498848"/>
            <a:ext cx="4297680" cy="164592"/>
          </a:xfrm>
          <a:prstGeom prst="rect">
            <a:avLst/>
          </a:prstGeom>
          <a:noFill/>
          <a:ln/>
        </p:spPr>
        <p:txBody>
          <a:bodyPr wrap="square" lIns="0" tIns="0" rIns="0" bIns="0" rtlCol="0" anchor="ctr"/>
          <a:lstStyle/>
          <a:p>
            <a:pPr indent="0" marL="0">
              <a:buNone/>
            </a:pPr>
            <a:r>
              <a:rPr lang="en-US" sz="750" b="1" dirty="0">
                <a:solidFill>
                  <a:srgbClr val="C9342D"/>
                </a:solidFill>
                <a:latin typeface="Yu Gothic" pitchFamily="34" charset="0"/>
                <a:ea typeface="Yu Gothic" pitchFamily="34" charset="-122"/>
                <a:cs typeface="Yu Gothic" pitchFamily="34" charset="-120"/>
              </a:rPr>
              <a:t>重症アラート: 至急確認が必要な回答を優先表示</a:t>
            </a:r>
            <a:endParaRPr lang="en-US" sz="750" dirty="0"/>
          </a:p>
        </p:txBody>
      </p:sp>
      <p:sp>
        <p:nvSpPr>
          <p:cNvPr id="23" name="Shape 21"/>
          <p:cNvSpPr/>
          <p:nvPr/>
        </p:nvSpPr>
        <p:spPr>
          <a:xfrm>
            <a:off x="6400800" y="1600200"/>
            <a:ext cx="5120640" cy="731520"/>
          </a:xfrm>
          <a:prstGeom prst="roundRect">
            <a:avLst>
              <a:gd name="adj" fmla="val 10000"/>
            </a:avLst>
          </a:prstGeom>
          <a:solidFill>
            <a:srgbClr val="EAF4F7"/>
          </a:solidFill>
          <a:ln w="12700">
            <a:solidFill>
              <a:srgbClr val="DCE6EF"/>
            </a:solidFill>
            <a:prstDash val="solid"/>
          </a:ln>
        </p:spPr>
      </p:sp>
      <p:sp>
        <p:nvSpPr>
          <p:cNvPr id="24" name="Text 22"/>
          <p:cNvSpPr/>
          <p:nvPr/>
        </p:nvSpPr>
        <p:spPr>
          <a:xfrm>
            <a:off x="6629400" y="1764792"/>
            <a:ext cx="1463040" cy="201168"/>
          </a:xfrm>
          <a:prstGeom prst="rect">
            <a:avLst/>
          </a:prstGeom>
          <a:noFill/>
          <a:ln/>
        </p:spPr>
        <p:txBody>
          <a:bodyPr wrap="square" lIns="0" tIns="0" rIns="0" bIns="0" rtlCol="0" anchor="ctr"/>
          <a:lstStyle/>
          <a:p>
            <a:pPr indent="0" marL="0">
              <a:buNone/>
            </a:pPr>
            <a:r>
              <a:rPr lang="en-US" sz="1200" b="1" dirty="0">
                <a:solidFill>
                  <a:srgbClr val="185E98"/>
                </a:solidFill>
                <a:latin typeface="Yu Gothic" pitchFamily="34" charset="0"/>
                <a:ea typeface="Yu Gothic" pitchFamily="34" charset="-122"/>
                <a:cs typeface="Yu Gothic" pitchFamily="34" charset="-120"/>
              </a:rPr>
              <a:t>一斉送信</a:t>
            </a:r>
            <a:endParaRPr lang="en-US" sz="1200" dirty="0"/>
          </a:p>
        </p:txBody>
      </p:sp>
      <p:sp>
        <p:nvSpPr>
          <p:cNvPr id="25" name="Text 23"/>
          <p:cNvSpPr/>
          <p:nvPr/>
        </p:nvSpPr>
        <p:spPr>
          <a:xfrm>
            <a:off x="8028432" y="1746504"/>
            <a:ext cx="3200400" cy="237744"/>
          </a:xfrm>
          <a:prstGeom prst="rect">
            <a:avLst/>
          </a:prstGeom>
          <a:noFill/>
          <a:ln/>
        </p:spPr>
        <p:txBody>
          <a:bodyPr wrap="square" lIns="0" tIns="0" rIns="0" bIns="0" rtlCol="0" anchor="ctr">
            <a:normAutofit/>
          </a:bodyPr>
          <a:lstStyle/>
          <a:p>
            <a:pPr indent="0" marL="0">
              <a:buNone/>
            </a:pPr>
            <a:r>
              <a:rPr lang="en-US" sz="950" dirty="0">
                <a:solidFill>
                  <a:srgbClr val="132033"/>
                </a:solidFill>
                <a:latin typeface="Yu Gothic" pitchFamily="34" charset="0"/>
                <a:ea typeface="Yu Gothic" pitchFamily="34" charset="-122"/>
                <a:cs typeface="Yu Gothic" pitchFamily="34" charset="-120"/>
              </a:rPr>
              <a:t>対象者を検索・選択して回答ボタン付きLINEを送信</a:t>
            </a:r>
            <a:endParaRPr lang="en-US" sz="950" dirty="0"/>
          </a:p>
        </p:txBody>
      </p:sp>
      <p:sp>
        <p:nvSpPr>
          <p:cNvPr id="26" name="Shape 24"/>
          <p:cNvSpPr/>
          <p:nvPr/>
        </p:nvSpPr>
        <p:spPr>
          <a:xfrm>
            <a:off x="6400800" y="2560320"/>
            <a:ext cx="5120640" cy="731520"/>
          </a:xfrm>
          <a:prstGeom prst="roundRect">
            <a:avLst>
              <a:gd name="adj" fmla="val 10000"/>
            </a:avLst>
          </a:prstGeom>
          <a:solidFill>
            <a:srgbClr val="FFFFFF"/>
          </a:solidFill>
          <a:ln w="12700">
            <a:solidFill>
              <a:srgbClr val="DCE6EF"/>
            </a:solidFill>
            <a:prstDash val="solid"/>
          </a:ln>
        </p:spPr>
      </p:sp>
      <p:sp>
        <p:nvSpPr>
          <p:cNvPr id="27" name="Text 25"/>
          <p:cNvSpPr/>
          <p:nvPr/>
        </p:nvSpPr>
        <p:spPr>
          <a:xfrm>
            <a:off x="6629400" y="2724912"/>
            <a:ext cx="1463040" cy="201168"/>
          </a:xfrm>
          <a:prstGeom prst="rect">
            <a:avLst/>
          </a:prstGeom>
          <a:noFill/>
          <a:ln/>
        </p:spPr>
        <p:txBody>
          <a:bodyPr wrap="square" lIns="0" tIns="0" rIns="0" bIns="0" rtlCol="0" anchor="ctr"/>
          <a:lstStyle/>
          <a:p>
            <a:pPr indent="0" marL="0">
              <a:buNone/>
            </a:pPr>
            <a:r>
              <a:rPr lang="en-US" sz="1200" b="1" dirty="0">
                <a:solidFill>
                  <a:srgbClr val="185E98"/>
                </a:solidFill>
                <a:latin typeface="Yu Gothic" pitchFamily="34" charset="0"/>
                <a:ea typeface="Yu Gothic" pitchFamily="34" charset="-122"/>
                <a:cs typeface="Yu Gothic" pitchFamily="34" charset="-120"/>
              </a:rPr>
              <a:t>重症アラート</a:t>
            </a:r>
            <a:endParaRPr lang="en-US" sz="1200" dirty="0"/>
          </a:p>
        </p:txBody>
      </p:sp>
      <p:sp>
        <p:nvSpPr>
          <p:cNvPr id="28" name="Text 26"/>
          <p:cNvSpPr/>
          <p:nvPr/>
        </p:nvSpPr>
        <p:spPr>
          <a:xfrm>
            <a:off x="8028432" y="2706624"/>
            <a:ext cx="3200400" cy="237744"/>
          </a:xfrm>
          <a:prstGeom prst="rect">
            <a:avLst/>
          </a:prstGeom>
          <a:noFill/>
          <a:ln/>
        </p:spPr>
        <p:txBody>
          <a:bodyPr wrap="square" lIns="0" tIns="0" rIns="0" bIns="0" rtlCol="0" anchor="ctr">
            <a:normAutofit/>
          </a:bodyPr>
          <a:lstStyle/>
          <a:p>
            <a:pPr indent="0" marL="0">
              <a:buNone/>
            </a:pPr>
            <a:r>
              <a:rPr lang="en-US" sz="950" dirty="0">
                <a:solidFill>
                  <a:srgbClr val="132033"/>
                </a:solidFill>
                <a:latin typeface="Yu Gothic" pitchFamily="34" charset="0"/>
                <a:ea typeface="Yu Gothic" pitchFamily="34" charset="-122"/>
                <a:cs typeface="Yu Gothic" pitchFamily="34" charset="-120"/>
              </a:rPr>
              <a:t>低血糖・薬剤不足・至急連絡希望などを優先表示</a:t>
            </a:r>
            <a:endParaRPr lang="en-US" sz="950" dirty="0"/>
          </a:p>
        </p:txBody>
      </p:sp>
      <p:sp>
        <p:nvSpPr>
          <p:cNvPr id="29" name="Shape 27"/>
          <p:cNvSpPr/>
          <p:nvPr/>
        </p:nvSpPr>
        <p:spPr>
          <a:xfrm>
            <a:off x="6400800" y="3520440"/>
            <a:ext cx="5120640" cy="731520"/>
          </a:xfrm>
          <a:prstGeom prst="roundRect">
            <a:avLst>
              <a:gd name="adj" fmla="val 10000"/>
            </a:avLst>
          </a:prstGeom>
          <a:solidFill>
            <a:srgbClr val="EAF4F7"/>
          </a:solidFill>
          <a:ln w="12700">
            <a:solidFill>
              <a:srgbClr val="DCE6EF"/>
            </a:solidFill>
            <a:prstDash val="solid"/>
          </a:ln>
        </p:spPr>
      </p:sp>
      <p:sp>
        <p:nvSpPr>
          <p:cNvPr id="30" name="Text 28"/>
          <p:cNvSpPr/>
          <p:nvPr/>
        </p:nvSpPr>
        <p:spPr>
          <a:xfrm>
            <a:off x="6629400" y="3685032"/>
            <a:ext cx="1463040" cy="201168"/>
          </a:xfrm>
          <a:prstGeom prst="rect">
            <a:avLst/>
          </a:prstGeom>
          <a:noFill/>
          <a:ln/>
        </p:spPr>
        <p:txBody>
          <a:bodyPr wrap="square" lIns="0" tIns="0" rIns="0" bIns="0" rtlCol="0" anchor="ctr"/>
          <a:lstStyle/>
          <a:p>
            <a:pPr indent="0" marL="0">
              <a:buNone/>
            </a:pPr>
            <a:r>
              <a:rPr lang="en-US" sz="1200" b="1" dirty="0">
                <a:solidFill>
                  <a:srgbClr val="185E98"/>
                </a:solidFill>
                <a:latin typeface="Yu Gothic" pitchFamily="34" charset="0"/>
                <a:ea typeface="Yu Gothic" pitchFamily="34" charset="-122"/>
                <a:cs typeface="Yu Gothic" pitchFamily="34" charset="-120"/>
              </a:rPr>
              <a:t>回答履歴</a:t>
            </a:r>
            <a:endParaRPr lang="en-US" sz="1200" dirty="0"/>
          </a:p>
        </p:txBody>
      </p:sp>
      <p:sp>
        <p:nvSpPr>
          <p:cNvPr id="31" name="Text 29"/>
          <p:cNvSpPr/>
          <p:nvPr/>
        </p:nvSpPr>
        <p:spPr>
          <a:xfrm>
            <a:off x="8028432" y="3666744"/>
            <a:ext cx="3200400" cy="237744"/>
          </a:xfrm>
          <a:prstGeom prst="rect">
            <a:avLst/>
          </a:prstGeom>
          <a:noFill/>
          <a:ln/>
        </p:spPr>
        <p:txBody>
          <a:bodyPr wrap="square" lIns="0" tIns="0" rIns="0" bIns="0" rtlCol="0" anchor="ctr">
            <a:normAutofit/>
          </a:bodyPr>
          <a:lstStyle/>
          <a:p>
            <a:pPr indent="0" marL="0">
              <a:buNone/>
            </a:pPr>
            <a:r>
              <a:rPr lang="en-US" sz="950" dirty="0">
                <a:solidFill>
                  <a:srgbClr val="132033"/>
                </a:solidFill>
                <a:latin typeface="Yu Gothic" pitchFamily="34" charset="0"/>
                <a:ea typeface="Yu Gothic" pitchFamily="34" charset="-122"/>
                <a:cs typeface="Yu Gothic" pitchFamily="34" charset="-120"/>
              </a:rPr>
              <a:t>時刻、回答内容、対応状況、送信履歴を保存</a:t>
            </a:r>
            <a:endParaRPr lang="en-US" sz="950" dirty="0"/>
          </a:p>
        </p:txBody>
      </p:sp>
      <p:sp>
        <p:nvSpPr>
          <p:cNvPr id="32" name="Shape 30"/>
          <p:cNvSpPr/>
          <p:nvPr/>
        </p:nvSpPr>
        <p:spPr>
          <a:xfrm>
            <a:off x="6400800" y="4480560"/>
            <a:ext cx="5120640" cy="731520"/>
          </a:xfrm>
          <a:prstGeom prst="roundRect">
            <a:avLst>
              <a:gd name="adj" fmla="val 10000"/>
            </a:avLst>
          </a:prstGeom>
          <a:solidFill>
            <a:srgbClr val="FFFFFF"/>
          </a:solidFill>
          <a:ln w="12700">
            <a:solidFill>
              <a:srgbClr val="DCE6EF"/>
            </a:solidFill>
            <a:prstDash val="solid"/>
          </a:ln>
        </p:spPr>
      </p:sp>
      <p:sp>
        <p:nvSpPr>
          <p:cNvPr id="33" name="Text 31"/>
          <p:cNvSpPr/>
          <p:nvPr/>
        </p:nvSpPr>
        <p:spPr>
          <a:xfrm>
            <a:off x="6629400" y="4645152"/>
            <a:ext cx="1463040" cy="201168"/>
          </a:xfrm>
          <a:prstGeom prst="rect">
            <a:avLst/>
          </a:prstGeom>
          <a:noFill/>
          <a:ln/>
        </p:spPr>
        <p:txBody>
          <a:bodyPr wrap="square" lIns="0" tIns="0" rIns="0" bIns="0" rtlCol="0" anchor="ctr"/>
          <a:lstStyle/>
          <a:p>
            <a:pPr indent="0" marL="0">
              <a:buNone/>
            </a:pPr>
            <a:r>
              <a:rPr lang="en-US" sz="1200" b="1" dirty="0">
                <a:solidFill>
                  <a:srgbClr val="185E98"/>
                </a:solidFill>
                <a:latin typeface="Yu Gothic" pitchFamily="34" charset="0"/>
                <a:ea typeface="Yu Gothic" pitchFamily="34" charset="-122"/>
                <a:cs typeface="Yu Gothic" pitchFamily="34" charset="-120"/>
              </a:rPr>
              <a:t>写真・位置情報</a:t>
            </a:r>
            <a:endParaRPr lang="en-US" sz="1200" dirty="0"/>
          </a:p>
        </p:txBody>
      </p:sp>
      <p:sp>
        <p:nvSpPr>
          <p:cNvPr id="34" name="Text 32"/>
          <p:cNvSpPr/>
          <p:nvPr/>
        </p:nvSpPr>
        <p:spPr>
          <a:xfrm>
            <a:off x="8028432" y="4626864"/>
            <a:ext cx="3200400" cy="237744"/>
          </a:xfrm>
          <a:prstGeom prst="rect">
            <a:avLst/>
          </a:prstGeom>
          <a:noFill/>
          <a:ln/>
        </p:spPr>
        <p:txBody>
          <a:bodyPr wrap="square" lIns="0" tIns="0" rIns="0" bIns="0" rtlCol="0" anchor="ctr">
            <a:normAutofit/>
          </a:bodyPr>
          <a:lstStyle/>
          <a:p>
            <a:pPr indent="0" marL="0">
              <a:buNone/>
            </a:pPr>
            <a:r>
              <a:rPr lang="en-US" sz="950" dirty="0">
                <a:solidFill>
                  <a:srgbClr val="132033"/>
                </a:solidFill>
                <a:latin typeface="Yu Gothic" pitchFamily="34" charset="0"/>
                <a:ea typeface="Yu Gothic" pitchFamily="34" charset="-122"/>
                <a:cs typeface="Yu Gothic" pitchFamily="34" charset="-120"/>
              </a:rPr>
              <a:t>足病変写真や現在地をリンクで確認</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患者体験</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06</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患者さんはアプリを覚えず、普段のLINEで回答できる</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ボタン回答を中心に、必要時のみ自由記述・写真・位置情報を送信</a:t>
            </a:r>
            <a:endParaRPr lang="en-US" sz="950" dirty="0"/>
          </a:p>
        </p:txBody>
      </p:sp>
      <p:sp>
        <p:nvSpPr>
          <p:cNvPr id="7" name="Shape 5"/>
          <p:cNvSpPr/>
          <p:nvPr/>
        </p:nvSpPr>
        <p:spPr>
          <a:xfrm>
            <a:off x="914400" y="1417320"/>
            <a:ext cx="2788920" cy="4160520"/>
          </a:xfrm>
          <a:prstGeom prst="roundRect">
            <a:avLst>
              <a:gd name="adj" fmla="val 5902"/>
            </a:avLst>
          </a:prstGeom>
          <a:solidFill>
            <a:srgbClr val="111827"/>
          </a:solidFill>
          <a:ln w="12700">
            <a:solidFill>
              <a:srgbClr val="111827"/>
            </a:solidFill>
            <a:prstDash val="solid"/>
          </a:ln>
        </p:spPr>
      </p:sp>
      <p:sp>
        <p:nvSpPr>
          <p:cNvPr id="8" name="Shape 6"/>
          <p:cNvSpPr/>
          <p:nvPr/>
        </p:nvSpPr>
        <p:spPr>
          <a:xfrm>
            <a:off x="1024128" y="1527048"/>
            <a:ext cx="2569464" cy="3941064"/>
          </a:xfrm>
          <a:prstGeom prst="roundRect">
            <a:avLst>
              <a:gd name="adj" fmla="val 4270"/>
            </a:avLst>
          </a:prstGeom>
          <a:solidFill>
            <a:srgbClr val="EEF7F4"/>
          </a:solidFill>
          <a:ln w="12700">
            <a:solidFill>
              <a:srgbClr val="EEF7F4"/>
            </a:solidFill>
            <a:prstDash val="solid"/>
          </a:ln>
        </p:spPr>
      </p:sp>
      <p:sp>
        <p:nvSpPr>
          <p:cNvPr id="9" name="Text 7"/>
          <p:cNvSpPr/>
          <p:nvPr/>
        </p:nvSpPr>
        <p:spPr>
          <a:xfrm>
            <a:off x="1143000" y="1737360"/>
            <a:ext cx="2331720" cy="228600"/>
          </a:xfrm>
          <a:prstGeom prst="rect">
            <a:avLst/>
          </a:prstGeom>
          <a:noFill/>
          <a:ln/>
        </p:spPr>
        <p:txBody>
          <a:bodyPr wrap="square" lIns="0" tIns="0" rIns="0" bIns="0" rtlCol="0" anchor="ctr"/>
          <a:lstStyle/>
          <a:p>
            <a:pPr indent="0" marL="0">
              <a:buNone/>
            </a:pPr>
            <a:r>
              <a:rPr lang="en-US" sz="840" b="1" dirty="0">
                <a:solidFill>
                  <a:srgbClr val="166F77"/>
                </a:solidFill>
                <a:latin typeface="Yu Gothic" pitchFamily="34" charset="0"/>
                <a:ea typeface="Yu Gothic" pitchFamily="34" charset="-122"/>
                <a:cs typeface="Yu Gothic" pitchFamily="34" charset="-120"/>
              </a:rPr>
              <a:t>患者さんのLINE画面</a:t>
            </a:r>
            <a:endParaRPr lang="en-US" sz="840" dirty="0"/>
          </a:p>
        </p:txBody>
      </p:sp>
      <p:sp>
        <p:nvSpPr>
          <p:cNvPr id="10" name="Shape 8"/>
          <p:cNvSpPr/>
          <p:nvPr/>
        </p:nvSpPr>
        <p:spPr>
          <a:xfrm>
            <a:off x="1207008" y="2130552"/>
            <a:ext cx="2203704" cy="1234440"/>
          </a:xfrm>
          <a:prstGeom prst="roundRect">
            <a:avLst>
              <a:gd name="adj" fmla="val 5926"/>
            </a:avLst>
          </a:prstGeom>
          <a:solidFill>
            <a:srgbClr val="FFFFFF"/>
          </a:solidFill>
          <a:ln w="12700">
            <a:solidFill>
              <a:srgbClr val="DCE6EF"/>
            </a:solidFill>
            <a:prstDash val="solid"/>
          </a:ln>
        </p:spPr>
      </p:sp>
      <p:sp>
        <p:nvSpPr>
          <p:cNvPr id="11" name="Text 9"/>
          <p:cNvSpPr/>
          <p:nvPr/>
        </p:nvSpPr>
        <p:spPr>
          <a:xfrm>
            <a:off x="1344168" y="2258568"/>
            <a:ext cx="1929384" cy="256032"/>
          </a:xfrm>
          <a:prstGeom prst="rect">
            <a:avLst/>
          </a:prstGeom>
          <a:noFill/>
          <a:ln/>
        </p:spPr>
        <p:txBody>
          <a:bodyPr wrap="square" lIns="0" tIns="0" rIns="0" bIns="0" rtlCol="0" anchor="ctr"/>
          <a:lstStyle/>
          <a:p>
            <a:pPr indent="0" marL="0">
              <a:buNone/>
            </a:pPr>
            <a:r>
              <a:rPr lang="en-US" sz="750" dirty="0">
                <a:solidFill>
                  <a:srgbClr val="132033"/>
                </a:solidFill>
                <a:latin typeface="Yu Gothic" pitchFamily="34" charset="0"/>
                <a:ea typeface="Yu Gothic" pitchFamily="34" charset="-122"/>
                <a:cs typeface="Yu Gothic" pitchFamily="34" charset="-120"/>
              </a:rPr>
              <a:t>【安否確認】現在の状況を返信してください。</a:t>
            </a:r>
            <a:endParaRPr lang="en-US" sz="750" dirty="0"/>
          </a:p>
        </p:txBody>
      </p:sp>
      <p:sp>
        <p:nvSpPr>
          <p:cNvPr id="12" name="Shape 10"/>
          <p:cNvSpPr/>
          <p:nvPr/>
        </p:nvSpPr>
        <p:spPr>
          <a:xfrm>
            <a:off x="1344168" y="2587752"/>
            <a:ext cx="1078992" cy="310896"/>
          </a:xfrm>
          <a:prstGeom prst="roundRect">
            <a:avLst>
              <a:gd name="adj" fmla="val 23529"/>
            </a:avLst>
          </a:prstGeom>
          <a:solidFill>
            <a:srgbClr val="DFF4ED"/>
          </a:solidFill>
          <a:ln w="12700">
            <a:solidFill>
              <a:srgbClr val="DFF4ED"/>
            </a:solidFill>
            <a:prstDash val="solid"/>
          </a:ln>
        </p:spPr>
      </p:sp>
      <p:sp>
        <p:nvSpPr>
          <p:cNvPr id="13" name="Text 11"/>
          <p:cNvSpPr/>
          <p:nvPr/>
        </p:nvSpPr>
        <p:spPr>
          <a:xfrm>
            <a:off x="1417320" y="2656332"/>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無事</a:t>
            </a:r>
            <a:endParaRPr lang="en-US" sz="800" dirty="0"/>
          </a:p>
        </p:txBody>
      </p:sp>
      <p:sp>
        <p:nvSpPr>
          <p:cNvPr id="14" name="Shape 12"/>
          <p:cNvSpPr/>
          <p:nvPr/>
        </p:nvSpPr>
        <p:spPr>
          <a:xfrm>
            <a:off x="2606040" y="2587752"/>
            <a:ext cx="1078992" cy="310896"/>
          </a:xfrm>
          <a:prstGeom prst="roundRect">
            <a:avLst>
              <a:gd name="adj" fmla="val 23529"/>
            </a:avLst>
          </a:prstGeom>
          <a:solidFill>
            <a:srgbClr val="DFF4ED"/>
          </a:solidFill>
          <a:ln w="12700">
            <a:solidFill>
              <a:srgbClr val="DFF4ED"/>
            </a:solidFill>
            <a:prstDash val="solid"/>
          </a:ln>
        </p:spPr>
      </p:sp>
      <p:sp>
        <p:nvSpPr>
          <p:cNvPr id="15" name="Text 13"/>
          <p:cNvSpPr/>
          <p:nvPr/>
        </p:nvSpPr>
        <p:spPr>
          <a:xfrm>
            <a:off x="2679192" y="2656332"/>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体調不良</a:t>
            </a:r>
            <a:endParaRPr lang="en-US" sz="800" dirty="0"/>
          </a:p>
        </p:txBody>
      </p:sp>
      <p:sp>
        <p:nvSpPr>
          <p:cNvPr id="16" name="Shape 14"/>
          <p:cNvSpPr/>
          <p:nvPr/>
        </p:nvSpPr>
        <p:spPr>
          <a:xfrm>
            <a:off x="1344168" y="2916936"/>
            <a:ext cx="1078992" cy="310896"/>
          </a:xfrm>
          <a:prstGeom prst="roundRect">
            <a:avLst>
              <a:gd name="adj" fmla="val 23529"/>
            </a:avLst>
          </a:prstGeom>
          <a:solidFill>
            <a:srgbClr val="DFF4ED"/>
          </a:solidFill>
          <a:ln w="12700">
            <a:solidFill>
              <a:srgbClr val="DFF4ED"/>
            </a:solidFill>
            <a:prstDash val="solid"/>
          </a:ln>
        </p:spPr>
      </p:sp>
      <p:sp>
        <p:nvSpPr>
          <p:cNvPr id="17" name="Text 15"/>
          <p:cNvSpPr/>
          <p:nvPr/>
        </p:nvSpPr>
        <p:spPr>
          <a:xfrm>
            <a:off x="1417320" y="2985516"/>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薬不足</a:t>
            </a:r>
            <a:endParaRPr lang="en-US" sz="800" dirty="0"/>
          </a:p>
        </p:txBody>
      </p:sp>
      <p:sp>
        <p:nvSpPr>
          <p:cNvPr id="18" name="Shape 16"/>
          <p:cNvSpPr/>
          <p:nvPr/>
        </p:nvSpPr>
        <p:spPr>
          <a:xfrm>
            <a:off x="2606040" y="2916936"/>
            <a:ext cx="1078992" cy="310896"/>
          </a:xfrm>
          <a:prstGeom prst="roundRect">
            <a:avLst>
              <a:gd name="adj" fmla="val 23529"/>
            </a:avLst>
          </a:prstGeom>
          <a:solidFill>
            <a:srgbClr val="DFF4ED"/>
          </a:solidFill>
          <a:ln w="12700">
            <a:solidFill>
              <a:srgbClr val="DFF4ED"/>
            </a:solidFill>
            <a:prstDash val="solid"/>
          </a:ln>
        </p:spPr>
      </p:sp>
      <p:sp>
        <p:nvSpPr>
          <p:cNvPr id="19" name="Text 17"/>
          <p:cNvSpPr/>
          <p:nvPr/>
        </p:nvSpPr>
        <p:spPr>
          <a:xfrm>
            <a:off x="2679192" y="2985516"/>
            <a:ext cx="932688"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至急連絡</a:t>
            </a:r>
            <a:endParaRPr lang="en-US" sz="800" dirty="0"/>
          </a:p>
        </p:txBody>
      </p:sp>
      <p:sp>
        <p:nvSpPr>
          <p:cNvPr id="20" name="Shape 18"/>
          <p:cNvSpPr/>
          <p:nvPr/>
        </p:nvSpPr>
        <p:spPr>
          <a:xfrm>
            <a:off x="1207008" y="3566160"/>
            <a:ext cx="2203704" cy="530352"/>
          </a:xfrm>
          <a:prstGeom prst="roundRect">
            <a:avLst>
              <a:gd name="adj" fmla="val 13793"/>
            </a:avLst>
          </a:prstGeom>
          <a:solidFill>
            <a:srgbClr val="FFFFFF"/>
          </a:solidFill>
          <a:ln w="12700">
            <a:solidFill>
              <a:srgbClr val="DCE6EF"/>
            </a:solidFill>
            <a:prstDash val="solid"/>
          </a:ln>
        </p:spPr>
      </p:sp>
      <p:sp>
        <p:nvSpPr>
          <p:cNvPr id="21" name="Text 19"/>
          <p:cNvSpPr/>
          <p:nvPr/>
        </p:nvSpPr>
        <p:spPr>
          <a:xfrm>
            <a:off x="1344168" y="3739896"/>
            <a:ext cx="1929384" cy="164592"/>
          </a:xfrm>
          <a:prstGeom prst="rect">
            <a:avLst/>
          </a:prstGeom>
          <a:noFill/>
          <a:ln/>
        </p:spPr>
        <p:txBody>
          <a:bodyPr wrap="square" lIns="0" tIns="0" rIns="0" bIns="0" rtlCol="0" anchor="ctr"/>
          <a:lstStyle/>
          <a:p>
            <a:pPr indent="0" marL="0">
              <a:buNone/>
            </a:pPr>
            <a:r>
              <a:rPr lang="en-US" sz="740" dirty="0">
                <a:solidFill>
                  <a:srgbClr val="132033"/>
                </a:solidFill>
                <a:latin typeface="Yu Gothic" pitchFamily="34" charset="0"/>
                <a:ea typeface="Yu Gothic" pitchFamily="34" charset="-122"/>
                <a:cs typeface="Yu Gothic" pitchFamily="34" charset="-120"/>
              </a:rPr>
              <a:t>写真・位置情報も送信可能</a:t>
            </a:r>
            <a:endParaRPr lang="en-US" sz="740" dirty="0"/>
          </a:p>
        </p:txBody>
      </p:sp>
      <p:sp>
        <p:nvSpPr>
          <p:cNvPr id="22" name="Shape 20"/>
          <p:cNvSpPr/>
          <p:nvPr/>
        </p:nvSpPr>
        <p:spPr>
          <a:xfrm>
            <a:off x="4297680" y="2212848"/>
            <a:ext cx="530352" cy="530352"/>
          </a:xfrm>
          <a:prstGeom prst="ellipse">
            <a:avLst/>
          </a:prstGeom>
          <a:solidFill>
            <a:srgbClr val="185E98"/>
          </a:solidFill>
          <a:ln w="12700">
            <a:solidFill>
              <a:srgbClr val="185E98"/>
            </a:solidFill>
            <a:prstDash val="solid"/>
          </a:ln>
        </p:spPr>
      </p:sp>
      <p:sp>
        <p:nvSpPr>
          <p:cNvPr id="23" name="Text 21"/>
          <p:cNvSpPr/>
          <p:nvPr/>
        </p:nvSpPr>
        <p:spPr>
          <a:xfrm>
            <a:off x="4297680" y="2359152"/>
            <a:ext cx="530352"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1</a:t>
            </a:r>
            <a:endParaRPr lang="en-US" sz="1000" dirty="0"/>
          </a:p>
        </p:txBody>
      </p:sp>
      <p:sp>
        <p:nvSpPr>
          <p:cNvPr id="24" name="Text 22"/>
          <p:cNvSpPr/>
          <p:nvPr/>
        </p:nvSpPr>
        <p:spPr>
          <a:xfrm>
            <a:off x="3977640" y="2999232"/>
            <a:ext cx="1143000" cy="411480"/>
          </a:xfrm>
          <a:prstGeom prst="rect">
            <a:avLst/>
          </a:prstGeom>
          <a:noFill/>
          <a:ln/>
        </p:spPr>
        <p:txBody>
          <a:bodyPr wrap="square" lIns="0" tIns="0" rIns="0" bIns="0" rtlCol="0" anchor="ctr">
            <a:normAutofit/>
          </a:bodyPr>
          <a:lstStyle/>
          <a:p>
            <a:pPr algn="ctr" indent="0" marL="0">
              <a:buNone/>
            </a:pPr>
            <a:r>
              <a:rPr lang="en-US" sz="1150" b="1" dirty="0">
                <a:solidFill>
                  <a:srgbClr val="132033"/>
                </a:solidFill>
                <a:latin typeface="Yu Gothic" pitchFamily="34" charset="0"/>
                <a:ea typeface="Yu Gothic" pitchFamily="34" charset="-122"/>
                <a:cs typeface="Yu Gothic" pitchFamily="34" charset="-120"/>
              </a:rPr>
              <a:t>通知を受信</a:t>
            </a:r>
            <a:endParaRPr lang="en-US" sz="1150" dirty="0"/>
          </a:p>
        </p:txBody>
      </p:sp>
      <p:sp>
        <p:nvSpPr>
          <p:cNvPr id="25" name="Shape 23"/>
          <p:cNvSpPr/>
          <p:nvPr/>
        </p:nvSpPr>
        <p:spPr>
          <a:xfrm>
            <a:off x="4937760" y="2487168"/>
            <a:ext cx="749808" cy="0"/>
          </a:xfrm>
          <a:prstGeom prst="line">
            <a:avLst/>
          </a:prstGeom>
          <a:noFill/>
          <a:ln w="25400">
            <a:solidFill>
              <a:srgbClr val="257E6F"/>
            </a:solidFill>
            <a:prstDash val="solid"/>
            <a:headEnd type="none"/>
            <a:tailEnd type="triangle"/>
          </a:ln>
        </p:spPr>
      </p:sp>
      <p:sp>
        <p:nvSpPr>
          <p:cNvPr id="26" name="Shape 24"/>
          <p:cNvSpPr/>
          <p:nvPr/>
        </p:nvSpPr>
        <p:spPr>
          <a:xfrm>
            <a:off x="6126480" y="2212848"/>
            <a:ext cx="530352" cy="530352"/>
          </a:xfrm>
          <a:prstGeom prst="ellipse">
            <a:avLst/>
          </a:prstGeom>
          <a:solidFill>
            <a:srgbClr val="185E98"/>
          </a:solidFill>
          <a:ln w="12700">
            <a:solidFill>
              <a:srgbClr val="185E98"/>
            </a:solidFill>
            <a:prstDash val="solid"/>
          </a:ln>
        </p:spPr>
      </p:sp>
      <p:sp>
        <p:nvSpPr>
          <p:cNvPr id="27" name="Text 25"/>
          <p:cNvSpPr/>
          <p:nvPr/>
        </p:nvSpPr>
        <p:spPr>
          <a:xfrm>
            <a:off x="6126480" y="2359152"/>
            <a:ext cx="530352"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2</a:t>
            </a:r>
            <a:endParaRPr lang="en-US" sz="1000" dirty="0"/>
          </a:p>
        </p:txBody>
      </p:sp>
      <p:sp>
        <p:nvSpPr>
          <p:cNvPr id="28" name="Text 26"/>
          <p:cNvSpPr/>
          <p:nvPr/>
        </p:nvSpPr>
        <p:spPr>
          <a:xfrm>
            <a:off x="5806440" y="2999232"/>
            <a:ext cx="1143000" cy="411480"/>
          </a:xfrm>
          <a:prstGeom prst="rect">
            <a:avLst/>
          </a:prstGeom>
          <a:noFill/>
          <a:ln/>
        </p:spPr>
        <p:txBody>
          <a:bodyPr wrap="square" lIns="0" tIns="0" rIns="0" bIns="0" rtlCol="0" anchor="ctr">
            <a:normAutofit/>
          </a:bodyPr>
          <a:lstStyle/>
          <a:p>
            <a:pPr algn="ctr" indent="0" marL="0">
              <a:buNone/>
            </a:pPr>
            <a:r>
              <a:rPr lang="en-US" sz="1150" b="1" dirty="0">
                <a:solidFill>
                  <a:srgbClr val="132033"/>
                </a:solidFill>
                <a:latin typeface="Yu Gothic" pitchFamily="34" charset="0"/>
                <a:ea typeface="Yu Gothic" pitchFamily="34" charset="-122"/>
                <a:cs typeface="Yu Gothic" pitchFamily="34" charset="-120"/>
              </a:rPr>
              <a:t>ボタンで回答</a:t>
            </a:r>
            <a:endParaRPr lang="en-US" sz="1150" dirty="0"/>
          </a:p>
        </p:txBody>
      </p:sp>
      <p:sp>
        <p:nvSpPr>
          <p:cNvPr id="29" name="Shape 27"/>
          <p:cNvSpPr/>
          <p:nvPr/>
        </p:nvSpPr>
        <p:spPr>
          <a:xfrm>
            <a:off x="6766560" y="2487168"/>
            <a:ext cx="749808" cy="0"/>
          </a:xfrm>
          <a:prstGeom prst="line">
            <a:avLst/>
          </a:prstGeom>
          <a:noFill/>
          <a:ln w="25400">
            <a:solidFill>
              <a:srgbClr val="257E6F"/>
            </a:solidFill>
            <a:prstDash val="solid"/>
            <a:headEnd type="none"/>
            <a:tailEnd type="triangle"/>
          </a:ln>
        </p:spPr>
      </p:sp>
      <p:sp>
        <p:nvSpPr>
          <p:cNvPr id="30" name="Shape 28"/>
          <p:cNvSpPr/>
          <p:nvPr/>
        </p:nvSpPr>
        <p:spPr>
          <a:xfrm>
            <a:off x="7955280" y="2212848"/>
            <a:ext cx="530352" cy="530352"/>
          </a:xfrm>
          <a:prstGeom prst="ellipse">
            <a:avLst/>
          </a:prstGeom>
          <a:solidFill>
            <a:srgbClr val="185E98"/>
          </a:solidFill>
          <a:ln w="12700">
            <a:solidFill>
              <a:srgbClr val="185E98"/>
            </a:solidFill>
            <a:prstDash val="solid"/>
          </a:ln>
        </p:spPr>
      </p:sp>
      <p:sp>
        <p:nvSpPr>
          <p:cNvPr id="31" name="Text 29"/>
          <p:cNvSpPr/>
          <p:nvPr/>
        </p:nvSpPr>
        <p:spPr>
          <a:xfrm>
            <a:off x="7955280" y="2359152"/>
            <a:ext cx="530352"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3</a:t>
            </a:r>
            <a:endParaRPr lang="en-US" sz="1000" dirty="0"/>
          </a:p>
        </p:txBody>
      </p:sp>
      <p:sp>
        <p:nvSpPr>
          <p:cNvPr id="32" name="Text 30"/>
          <p:cNvSpPr/>
          <p:nvPr/>
        </p:nvSpPr>
        <p:spPr>
          <a:xfrm>
            <a:off x="7635240" y="2999232"/>
            <a:ext cx="1143000" cy="411480"/>
          </a:xfrm>
          <a:prstGeom prst="rect">
            <a:avLst/>
          </a:prstGeom>
          <a:noFill/>
          <a:ln/>
        </p:spPr>
        <p:txBody>
          <a:bodyPr wrap="square" lIns="0" tIns="0" rIns="0" bIns="0" rtlCol="0" anchor="ctr">
            <a:normAutofit/>
          </a:bodyPr>
          <a:lstStyle/>
          <a:p>
            <a:pPr algn="ctr" indent="0" marL="0">
              <a:buNone/>
            </a:pPr>
            <a:r>
              <a:rPr lang="en-US" sz="1150" b="1" dirty="0">
                <a:solidFill>
                  <a:srgbClr val="132033"/>
                </a:solidFill>
                <a:latin typeface="Yu Gothic" pitchFamily="34" charset="0"/>
                <a:ea typeface="Yu Gothic" pitchFamily="34" charset="-122"/>
                <a:cs typeface="Yu Gothic" pitchFamily="34" charset="-120"/>
              </a:rPr>
              <a:t>必要時に写真・位置情報</a:t>
            </a:r>
            <a:endParaRPr lang="en-US" sz="1150" dirty="0"/>
          </a:p>
        </p:txBody>
      </p:sp>
      <p:sp>
        <p:nvSpPr>
          <p:cNvPr id="33" name="Shape 31"/>
          <p:cNvSpPr/>
          <p:nvPr/>
        </p:nvSpPr>
        <p:spPr>
          <a:xfrm>
            <a:off x="8595360" y="2487168"/>
            <a:ext cx="749808" cy="0"/>
          </a:xfrm>
          <a:prstGeom prst="line">
            <a:avLst/>
          </a:prstGeom>
          <a:noFill/>
          <a:ln w="25400">
            <a:solidFill>
              <a:srgbClr val="257E6F"/>
            </a:solidFill>
            <a:prstDash val="solid"/>
            <a:headEnd type="none"/>
            <a:tailEnd type="triangle"/>
          </a:ln>
        </p:spPr>
      </p:sp>
      <p:sp>
        <p:nvSpPr>
          <p:cNvPr id="34" name="Shape 32"/>
          <p:cNvSpPr/>
          <p:nvPr/>
        </p:nvSpPr>
        <p:spPr>
          <a:xfrm>
            <a:off x="9784080" y="2212848"/>
            <a:ext cx="530352" cy="530352"/>
          </a:xfrm>
          <a:prstGeom prst="ellipse">
            <a:avLst/>
          </a:prstGeom>
          <a:solidFill>
            <a:srgbClr val="185E98"/>
          </a:solidFill>
          <a:ln w="12700">
            <a:solidFill>
              <a:srgbClr val="185E98"/>
            </a:solidFill>
            <a:prstDash val="solid"/>
          </a:ln>
        </p:spPr>
      </p:sp>
      <p:sp>
        <p:nvSpPr>
          <p:cNvPr id="35" name="Text 33"/>
          <p:cNvSpPr/>
          <p:nvPr/>
        </p:nvSpPr>
        <p:spPr>
          <a:xfrm>
            <a:off x="9784080" y="2359152"/>
            <a:ext cx="530352"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4</a:t>
            </a:r>
            <a:endParaRPr lang="en-US" sz="1000" dirty="0"/>
          </a:p>
        </p:txBody>
      </p:sp>
      <p:sp>
        <p:nvSpPr>
          <p:cNvPr id="36" name="Text 34"/>
          <p:cNvSpPr/>
          <p:nvPr/>
        </p:nvSpPr>
        <p:spPr>
          <a:xfrm>
            <a:off x="9464040" y="2999232"/>
            <a:ext cx="1143000" cy="411480"/>
          </a:xfrm>
          <a:prstGeom prst="rect">
            <a:avLst/>
          </a:prstGeom>
          <a:noFill/>
          <a:ln/>
        </p:spPr>
        <p:txBody>
          <a:bodyPr wrap="square" lIns="0" tIns="0" rIns="0" bIns="0" rtlCol="0" anchor="ctr">
            <a:normAutofit/>
          </a:bodyPr>
          <a:lstStyle/>
          <a:p>
            <a:pPr algn="ctr" indent="0" marL="0">
              <a:buNone/>
            </a:pPr>
            <a:r>
              <a:rPr lang="en-US" sz="1150" b="1" dirty="0">
                <a:solidFill>
                  <a:srgbClr val="132033"/>
                </a:solidFill>
                <a:latin typeface="Yu Gothic" pitchFamily="34" charset="0"/>
                <a:ea typeface="Yu Gothic" pitchFamily="34" charset="-122"/>
                <a:cs typeface="Yu Gothic" pitchFamily="34" charset="-120"/>
              </a:rPr>
              <a:t>医療者が確認</a:t>
            </a:r>
            <a:endParaRPr lang="en-US" sz="1150" dirty="0"/>
          </a:p>
        </p:txBody>
      </p:sp>
      <p:sp>
        <p:nvSpPr>
          <p:cNvPr id="37" name="Shape 35"/>
          <p:cNvSpPr/>
          <p:nvPr/>
        </p:nvSpPr>
        <p:spPr>
          <a:xfrm>
            <a:off x="4343400" y="4315968"/>
            <a:ext cx="6720840" cy="731520"/>
          </a:xfrm>
          <a:prstGeom prst="roundRect">
            <a:avLst>
              <a:gd name="adj" fmla="val 10000"/>
            </a:avLst>
          </a:prstGeom>
          <a:solidFill>
            <a:srgbClr val="DFF4ED"/>
          </a:solidFill>
          <a:ln w="12700">
            <a:solidFill>
              <a:srgbClr val="DCE6EF"/>
            </a:solidFill>
            <a:prstDash val="solid"/>
          </a:ln>
        </p:spPr>
      </p:sp>
      <p:sp>
        <p:nvSpPr>
          <p:cNvPr id="38" name="Text 36"/>
          <p:cNvSpPr/>
          <p:nvPr/>
        </p:nvSpPr>
        <p:spPr>
          <a:xfrm>
            <a:off x="4572000" y="4553712"/>
            <a:ext cx="6263640" cy="201168"/>
          </a:xfrm>
          <a:prstGeom prst="rect">
            <a:avLst/>
          </a:prstGeom>
          <a:noFill/>
          <a:ln/>
        </p:spPr>
        <p:txBody>
          <a:bodyPr wrap="square" lIns="0" tIns="0" rIns="0" bIns="0" rtlCol="0" anchor="ctr"/>
          <a:lstStyle/>
          <a:p>
            <a:pPr algn="ctr" indent="0" marL="0">
              <a:buNone/>
            </a:pPr>
            <a:r>
              <a:rPr lang="en-US" sz="1120" b="1" dirty="0">
                <a:solidFill>
                  <a:srgbClr val="166F77"/>
                </a:solidFill>
                <a:latin typeface="Yu Gothic" pitchFamily="34" charset="0"/>
                <a:ea typeface="Yu Gothic" pitchFamily="34" charset="-122"/>
                <a:cs typeface="Yu Gothic" pitchFamily="34" charset="-120"/>
              </a:rPr>
              <a:t>緊急時はLINEではなく電話・救急外来受診を促す文言を明示</a:t>
            </a:r>
            <a:endParaRPr lang="en-US" sz="11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対象領域</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07</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同じ基盤を、1型糖尿病・透析・足病変で使い分ける</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施設・部門ごとに文面、回答ボタン、Google連携を設定可能</a:t>
            </a:r>
            <a:endParaRPr lang="en-US" sz="950" dirty="0"/>
          </a:p>
        </p:txBody>
      </p:sp>
      <p:sp>
        <p:nvSpPr>
          <p:cNvPr id="7" name="Shape 5"/>
          <p:cNvSpPr/>
          <p:nvPr/>
        </p:nvSpPr>
        <p:spPr>
          <a:xfrm>
            <a:off x="914400" y="1600200"/>
            <a:ext cx="10241280" cy="914400"/>
          </a:xfrm>
          <a:prstGeom prst="roundRect">
            <a:avLst>
              <a:gd name="adj" fmla="val 8000"/>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Shape 6"/>
          <p:cNvSpPr/>
          <p:nvPr/>
        </p:nvSpPr>
        <p:spPr>
          <a:xfrm>
            <a:off x="1143000" y="1773936"/>
            <a:ext cx="1508760" cy="530352"/>
          </a:xfrm>
          <a:prstGeom prst="roundRect">
            <a:avLst>
              <a:gd name="adj" fmla="val 17241"/>
            </a:avLst>
          </a:prstGeom>
          <a:solidFill>
            <a:srgbClr val="185E98"/>
          </a:solidFill>
          <a:ln w="12700">
            <a:solidFill>
              <a:srgbClr val="185E98"/>
            </a:solidFill>
            <a:prstDash val="solid"/>
          </a:ln>
        </p:spPr>
      </p:sp>
      <p:sp>
        <p:nvSpPr>
          <p:cNvPr id="9" name="Text 7"/>
          <p:cNvSpPr/>
          <p:nvPr/>
        </p:nvSpPr>
        <p:spPr>
          <a:xfrm>
            <a:off x="1252728" y="1938528"/>
            <a:ext cx="1298448"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1型糖尿病</a:t>
            </a:r>
            <a:endParaRPr lang="en-US" sz="900" dirty="0"/>
          </a:p>
        </p:txBody>
      </p:sp>
      <p:sp>
        <p:nvSpPr>
          <p:cNvPr id="10" name="Text 8"/>
          <p:cNvSpPr/>
          <p:nvPr/>
        </p:nvSpPr>
        <p:spPr>
          <a:xfrm>
            <a:off x="2971800" y="1856232"/>
            <a:ext cx="7635240" cy="256032"/>
          </a:xfrm>
          <a:prstGeom prst="rect">
            <a:avLst/>
          </a:prstGeom>
          <a:noFill/>
          <a:ln/>
        </p:spPr>
        <p:txBody>
          <a:bodyPr wrap="square" lIns="0" tIns="0" rIns="0" bIns="0" rtlCol="0" anchor="ctr"/>
          <a:lstStyle/>
          <a:p>
            <a:pPr indent="0" marL="0">
              <a:buNone/>
            </a:pPr>
            <a:r>
              <a:rPr lang="en-US" sz="1400" b="1" dirty="0">
                <a:solidFill>
                  <a:srgbClr val="132033"/>
                </a:solidFill>
                <a:latin typeface="Yu Gothic" pitchFamily="34" charset="0"/>
                <a:ea typeface="Yu Gothic" pitchFamily="34" charset="-122"/>
                <a:cs typeface="Yu Gothic" pitchFamily="34" charset="-120"/>
              </a:rPr>
              <a:t>低血糖、薬・インスリン不足、至急連絡希望を重視</a:t>
            </a:r>
            <a:endParaRPr lang="en-US" sz="1400" dirty="0"/>
          </a:p>
        </p:txBody>
      </p:sp>
      <p:sp>
        <p:nvSpPr>
          <p:cNvPr id="11" name="Shape 9"/>
          <p:cNvSpPr/>
          <p:nvPr/>
        </p:nvSpPr>
        <p:spPr>
          <a:xfrm>
            <a:off x="914400" y="2834640"/>
            <a:ext cx="10241280" cy="914400"/>
          </a:xfrm>
          <a:prstGeom prst="roundRect">
            <a:avLst>
              <a:gd name="adj" fmla="val 8000"/>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2" name="Shape 10"/>
          <p:cNvSpPr/>
          <p:nvPr/>
        </p:nvSpPr>
        <p:spPr>
          <a:xfrm>
            <a:off x="1143000" y="3008376"/>
            <a:ext cx="1508760" cy="530352"/>
          </a:xfrm>
          <a:prstGeom prst="roundRect">
            <a:avLst>
              <a:gd name="adj" fmla="val 17241"/>
            </a:avLst>
          </a:prstGeom>
          <a:solidFill>
            <a:srgbClr val="257E6F"/>
          </a:solidFill>
          <a:ln w="12700">
            <a:solidFill>
              <a:srgbClr val="257E6F"/>
            </a:solidFill>
            <a:prstDash val="solid"/>
          </a:ln>
        </p:spPr>
      </p:sp>
      <p:sp>
        <p:nvSpPr>
          <p:cNvPr id="13" name="Text 11"/>
          <p:cNvSpPr/>
          <p:nvPr/>
        </p:nvSpPr>
        <p:spPr>
          <a:xfrm>
            <a:off x="1252728" y="3172968"/>
            <a:ext cx="1298448"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透析患者</a:t>
            </a:r>
            <a:endParaRPr lang="en-US" sz="900" dirty="0"/>
          </a:p>
        </p:txBody>
      </p:sp>
      <p:sp>
        <p:nvSpPr>
          <p:cNvPr id="14" name="Text 12"/>
          <p:cNvSpPr/>
          <p:nvPr/>
        </p:nvSpPr>
        <p:spPr>
          <a:xfrm>
            <a:off x="2971800" y="3090672"/>
            <a:ext cx="7635240" cy="256032"/>
          </a:xfrm>
          <a:prstGeom prst="rect">
            <a:avLst/>
          </a:prstGeom>
          <a:noFill/>
          <a:ln/>
        </p:spPr>
        <p:txBody>
          <a:bodyPr wrap="square" lIns="0" tIns="0" rIns="0" bIns="0" rtlCol="0" anchor="ctr"/>
          <a:lstStyle/>
          <a:p>
            <a:pPr indent="0" marL="0">
              <a:buNone/>
            </a:pPr>
            <a:r>
              <a:rPr lang="en-US" sz="1400" b="1" dirty="0">
                <a:solidFill>
                  <a:srgbClr val="132033"/>
                </a:solidFill>
                <a:latin typeface="Yu Gothic" pitchFamily="34" charset="0"/>
                <a:ea typeface="Yu Gothic" pitchFamily="34" charset="-122"/>
                <a:cs typeface="Yu Gothic" pitchFamily="34" charset="-120"/>
              </a:rPr>
              <a:t>透析可否、シャント不安、体調不良を確認</a:t>
            </a:r>
            <a:endParaRPr lang="en-US" sz="1400" dirty="0"/>
          </a:p>
        </p:txBody>
      </p:sp>
      <p:sp>
        <p:nvSpPr>
          <p:cNvPr id="15" name="Shape 13"/>
          <p:cNvSpPr/>
          <p:nvPr/>
        </p:nvSpPr>
        <p:spPr>
          <a:xfrm>
            <a:off x="914400" y="4069080"/>
            <a:ext cx="10241280" cy="914400"/>
          </a:xfrm>
          <a:prstGeom prst="roundRect">
            <a:avLst>
              <a:gd name="adj" fmla="val 8000"/>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6" name="Shape 14"/>
          <p:cNvSpPr/>
          <p:nvPr/>
        </p:nvSpPr>
        <p:spPr>
          <a:xfrm>
            <a:off x="1143000" y="4242816"/>
            <a:ext cx="1508760" cy="530352"/>
          </a:xfrm>
          <a:prstGeom prst="roundRect">
            <a:avLst>
              <a:gd name="adj" fmla="val 17241"/>
            </a:avLst>
          </a:prstGeom>
          <a:solidFill>
            <a:srgbClr val="E18B2D"/>
          </a:solidFill>
          <a:ln w="12700">
            <a:solidFill>
              <a:srgbClr val="E18B2D"/>
            </a:solidFill>
            <a:prstDash val="solid"/>
          </a:ln>
        </p:spPr>
      </p:sp>
      <p:sp>
        <p:nvSpPr>
          <p:cNvPr id="17" name="Text 15"/>
          <p:cNvSpPr/>
          <p:nvPr/>
        </p:nvSpPr>
        <p:spPr>
          <a:xfrm>
            <a:off x="1252728" y="4407408"/>
            <a:ext cx="1298448"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足病変</a:t>
            </a:r>
            <a:endParaRPr lang="en-US" sz="900" dirty="0"/>
          </a:p>
        </p:txBody>
      </p:sp>
      <p:sp>
        <p:nvSpPr>
          <p:cNvPr id="18" name="Text 16"/>
          <p:cNvSpPr/>
          <p:nvPr/>
        </p:nvSpPr>
        <p:spPr>
          <a:xfrm>
            <a:off x="2971800" y="4325112"/>
            <a:ext cx="7635240" cy="256032"/>
          </a:xfrm>
          <a:prstGeom prst="rect">
            <a:avLst/>
          </a:prstGeom>
          <a:noFill/>
          <a:ln/>
        </p:spPr>
        <p:txBody>
          <a:bodyPr wrap="square" lIns="0" tIns="0" rIns="0" bIns="0" rtlCol="0" anchor="ctr"/>
          <a:lstStyle/>
          <a:p>
            <a:pPr indent="0" marL="0">
              <a:buNone/>
            </a:pPr>
            <a:r>
              <a:rPr lang="en-US" sz="1400" b="1" dirty="0">
                <a:solidFill>
                  <a:srgbClr val="132033"/>
                </a:solidFill>
                <a:latin typeface="Yu Gothic" pitchFamily="34" charset="0"/>
                <a:ea typeface="Yu Gothic" pitchFamily="34" charset="-122"/>
                <a:cs typeface="Yu Gothic" pitchFamily="34" charset="-120"/>
              </a:rPr>
              <a:t>写真、発赤・痛み、浸出液、悪化徴候を確認</a:t>
            </a:r>
            <a:endParaRPr lang="en-US" sz="1400" dirty="0"/>
          </a:p>
        </p:txBody>
      </p:sp>
      <p:sp>
        <p:nvSpPr>
          <p:cNvPr id="19" name="Text 17"/>
          <p:cNvSpPr/>
          <p:nvPr/>
        </p:nvSpPr>
        <p:spPr>
          <a:xfrm>
            <a:off x="914400" y="5532120"/>
            <a:ext cx="10241280" cy="310896"/>
          </a:xfrm>
          <a:prstGeom prst="rect">
            <a:avLst/>
          </a:prstGeom>
          <a:noFill/>
          <a:ln/>
        </p:spPr>
        <p:txBody>
          <a:bodyPr wrap="square" lIns="0" tIns="0" rIns="0" bIns="0" rtlCol="0" anchor="ctr"/>
          <a:lstStyle/>
          <a:p>
            <a:pPr algn="ctr" indent="0" marL="0">
              <a:buNone/>
            </a:pPr>
            <a:r>
              <a:rPr lang="en-US" sz="2000" b="1" dirty="0">
                <a:solidFill>
                  <a:srgbClr val="166F77"/>
                </a:solidFill>
                <a:latin typeface="Yu Gothic" pitchFamily="34" charset="0"/>
                <a:ea typeface="Yu Gothic" pitchFamily="34" charset="-122"/>
                <a:cs typeface="Yu Gothic" pitchFamily="34" charset="-120"/>
              </a:rPr>
              <a:t>共通基盤 + 領域別プリセット = 横展開しやすい運用</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データ活用</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08</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回答データは記録され、地図・重症度・地域別集計へ展開可能</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Google Sheetsをデータ基盤としてLooker Studioに接続</a:t>
            </a:r>
            <a:endParaRPr lang="en-US" sz="950" dirty="0"/>
          </a:p>
        </p:txBody>
      </p:sp>
      <p:sp>
        <p:nvSpPr>
          <p:cNvPr id="7" name="Shape 5"/>
          <p:cNvSpPr/>
          <p:nvPr/>
        </p:nvSpPr>
        <p:spPr>
          <a:xfrm>
            <a:off x="731520" y="1600200"/>
            <a:ext cx="3108960" cy="3246120"/>
          </a:xfrm>
          <a:prstGeom prst="roundRect">
            <a:avLst>
              <a:gd name="adj" fmla="val 2353"/>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Text 6"/>
          <p:cNvSpPr/>
          <p:nvPr/>
        </p:nvSpPr>
        <p:spPr>
          <a:xfrm>
            <a:off x="1005840" y="1847088"/>
            <a:ext cx="2560320" cy="228600"/>
          </a:xfrm>
          <a:prstGeom prst="rect">
            <a:avLst/>
          </a:prstGeom>
          <a:noFill/>
          <a:ln/>
        </p:spPr>
        <p:txBody>
          <a:bodyPr wrap="square" lIns="0" tIns="0" rIns="0" bIns="0" rtlCol="0" anchor="ctr"/>
          <a:lstStyle/>
          <a:p>
            <a:pPr algn="ctr" indent="0" marL="0">
              <a:buNone/>
            </a:pPr>
            <a:r>
              <a:rPr lang="en-US" sz="1400" b="1" dirty="0">
                <a:solidFill>
                  <a:srgbClr val="185E98"/>
                </a:solidFill>
                <a:latin typeface="Yu Gothic" pitchFamily="34" charset="0"/>
                <a:ea typeface="Yu Gothic" pitchFamily="34" charset="-122"/>
                <a:cs typeface="Yu Gothic" pitchFamily="34" charset="-120"/>
              </a:rPr>
              <a:t>responses</a:t>
            </a:r>
            <a:endParaRPr lang="en-US" sz="1400" dirty="0"/>
          </a:p>
        </p:txBody>
      </p:sp>
      <p:sp>
        <p:nvSpPr>
          <p:cNvPr id="9" name="Shape 7"/>
          <p:cNvSpPr/>
          <p:nvPr/>
        </p:nvSpPr>
        <p:spPr>
          <a:xfrm>
            <a:off x="1143000" y="2331720"/>
            <a:ext cx="2286000" cy="310896"/>
          </a:xfrm>
          <a:prstGeom prst="roundRect">
            <a:avLst>
              <a:gd name="adj" fmla="val 23529"/>
            </a:avLst>
          </a:prstGeom>
          <a:solidFill>
            <a:srgbClr val="DFF4ED"/>
          </a:solidFill>
          <a:ln w="12700">
            <a:solidFill>
              <a:srgbClr val="DFF4ED"/>
            </a:solidFill>
            <a:prstDash val="solid"/>
          </a:ln>
        </p:spPr>
      </p:sp>
      <p:sp>
        <p:nvSpPr>
          <p:cNvPr id="10" name="Text 8"/>
          <p:cNvSpPr/>
          <p:nvPr/>
        </p:nvSpPr>
        <p:spPr>
          <a:xfrm>
            <a:off x="1216152" y="2400300"/>
            <a:ext cx="213969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timestamp</a:t>
            </a:r>
            <a:endParaRPr lang="en-US" sz="800" dirty="0"/>
          </a:p>
        </p:txBody>
      </p:sp>
      <p:sp>
        <p:nvSpPr>
          <p:cNvPr id="11" name="Shape 9"/>
          <p:cNvSpPr/>
          <p:nvPr/>
        </p:nvSpPr>
        <p:spPr>
          <a:xfrm>
            <a:off x="1143000" y="2770632"/>
            <a:ext cx="2286000" cy="310896"/>
          </a:xfrm>
          <a:prstGeom prst="roundRect">
            <a:avLst>
              <a:gd name="adj" fmla="val 23529"/>
            </a:avLst>
          </a:prstGeom>
          <a:solidFill>
            <a:srgbClr val="EAF4F7"/>
          </a:solidFill>
          <a:ln w="12700">
            <a:solidFill>
              <a:srgbClr val="EAF4F7"/>
            </a:solidFill>
            <a:prstDash val="solid"/>
          </a:ln>
        </p:spPr>
      </p:sp>
      <p:sp>
        <p:nvSpPr>
          <p:cNvPr id="12" name="Text 10"/>
          <p:cNvSpPr/>
          <p:nvPr/>
        </p:nvSpPr>
        <p:spPr>
          <a:xfrm>
            <a:off x="1216152" y="2839212"/>
            <a:ext cx="213969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patient_id</a:t>
            </a:r>
            <a:endParaRPr lang="en-US" sz="800" dirty="0"/>
          </a:p>
        </p:txBody>
      </p:sp>
      <p:sp>
        <p:nvSpPr>
          <p:cNvPr id="13" name="Shape 11"/>
          <p:cNvSpPr/>
          <p:nvPr/>
        </p:nvSpPr>
        <p:spPr>
          <a:xfrm>
            <a:off x="1143000" y="3209544"/>
            <a:ext cx="2286000" cy="310896"/>
          </a:xfrm>
          <a:prstGeom prst="roundRect">
            <a:avLst>
              <a:gd name="adj" fmla="val 23529"/>
            </a:avLst>
          </a:prstGeom>
          <a:solidFill>
            <a:srgbClr val="DFF4ED"/>
          </a:solidFill>
          <a:ln w="12700">
            <a:solidFill>
              <a:srgbClr val="DFF4ED"/>
            </a:solidFill>
            <a:prstDash val="solid"/>
          </a:ln>
        </p:spPr>
      </p:sp>
      <p:sp>
        <p:nvSpPr>
          <p:cNvPr id="14" name="Text 12"/>
          <p:cNvSpPr/>
          <p:nvPr/>
        </p:nvSpPr>
        <p:spPr>
          <a:xfrm>
            <a:off x="1216152" y="3278124"/>
            <a:ext cx="213969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code / label</a:t>
            </a:r>
            <a:endParaRPr lang="en-US" sz="800" dirty="0"/>
          </a:p>
        </p:txBody>
      </p:sp>
      <p:sp>
        <p:nvSpPr>
          <p:cNvPr id="15" name="Shape 13"/>
          <p:cNvSpPr/>
          <p:nvPr/>
        </p:nvSpPr>
        <p:spPr>
          <a:xfrm>
            <a:off x="1143000" y="3648456"/>
            <a:ext cx="2286000" cy="310896"/>
          </a:xfrm>
          <a:prstGeom prst="roundRect">
            <a:avLst>
              <a:gd name="adj" fmla="val 23529"/>
            </a:avLst>
          </a:prstGeom>
          <a:solidFill>
            <a:srgbClr val="EAF4F7"/>
          </a:solidFill>
          <a:ln w="12700">
            <a:solidFill>
              <a:srgbClr val="EAF4F7"/>
            </a:solidFill>
            <a:prstDash val="solid"/>
          </a:ln>
        </p:spPr>
      </p:sp>
      <p:sp>
        <p:nvSpPr>
          <p:cNvPr id="16" name="Text 14"/>
          <p:cNvSpPr/>
          <p:nvPr/>
        </p:nvSpPr>
        <p:spPr>
          <a:xfrm>
            <a:off x="1216152" y="3717036"/>
            <a:ext cx="213969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severity</a:t>
            </a:r>
            <a:endParaRPr lang="en-US" sz="800" dirty="0"/>
          </a:p>
        </p:txBody>
      </p:sp>
      <p:sp>
        <p:nvSpPr>
          <p:cNvPr id="17" name="Shape 15"/>
          <p:cNvSpPr/>
          <p:nvPr/>
        </p:nvSpPr>
        <p:spPr>
          <a:xfrm>
            <a:off x="1143000" y="4087368"/>
            <a:ext cx="2286000" cy="310896"/>
          </a:xfrm>
          <a:prstGeom prst="roundRect">
            <a:avLst>
              <a:gd name="adj" fmla="val 23529"/>
            </a:avLst>
          </a:prstGeom>
          <a:solidFill>
            <a:srgbClr val="DFF4ED"/>
          </a:solidFill>
          <a:ln w="12700">
            <a:solidFill>
              <a:srgbClr val="DFF4ED"/>
            </a:solidFill>
            <a:prstDash val="solid"/>
          </a:ln>
        </p:spPr>
      </p:sp>
      <p:sp>
        <p:nvSpPr>
          <p:cNvPr id="18" name="Text 16"/>
          <p:cNvSpPr/>
          <p:nvPr/>
        </p:nvSpPr>
        <p:spPr>
          <a:xfrm>
            <a:off x="1216152" y="4155948"/>
            <a:ext cx="213969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latitude / longitude</a:t>
            </a:r>
            <a:endParaRPr lang="en-US" sz="800" dirty="0"/>
          </a:p>
        </p:txBody>
      </p:sp>
      <p:sp>
        <p:nvSpPr>
          <p:cNvPr id="19" name="Shape 17"/>
          <p:cNvSpPr/>
          <p:nvPr/>
        </p:nvSpPr>
        <p:spPr>
          <a:xfrm>
            <a:off x="4023360" y="3218688"/>
            <a:ext cx="777240" cy="0"/>
          </a:xfrm>
          <a:prstGeom prst="line">
            <a:avLst/>
          </a:prstGeom>
          <a:noFill/>
          <a:ln w="25400">
            <a:solidFill>
              <a:srgbClr val="257E6F"/>
            </a:solidFill>
            <a:prstDash val="solid"/>
            <a:headEnd type="none"/>
            <a:tailEnd type="triangle"/>
          </a:ln>
        </p:spPr>
      </p:sp>
      <p:sp>
        <p:nvSpPr>
          <p:cNvPr id="20" name="Shape 18"/>
          <p:cNvSpPr/>
          <p:nvPr/>
        </p:nvSpPr>
        <p:spPr>
          <a:xfrm>
            <a:off x="4937760" y="1600200"/>
            <a:ext cx="6355080" cy="3246120"/>
          </a:xfrm>
          <a:prstGeom prst="roundRect">
            <a:avLst>
              <a:gd name="adj" fmla="val 2254"/>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1" name="Text 19"/>
          <p:cNvSpPr/>
          <p:nvPr/>
        </p:nvSpPr>
        <p:spPr>
          <a:xfrm>
            <a:off x="5212080" y="1847088"/>
            <a:ext cx="5806440" cy="228600"/>
          </a:xfrm>
          <a:prstGeom prst="rect">
            <a:avLst/>
          </a:prstGeom>
          <a:noFill/>
          <a:ln/>
        </p:spPr>
        <p:txBody>
          <a:bodyPr wrap="square" lIns="0" tIns="0" rIns="0" bIns="0" rtlCol="0" anchor="ctr"/>
          <a:lstStyle/>
          <a:p>
            <a:pPr algn="ctr" indent="0" marL="0">
              <a:buNone/>
            </a:pPr>
            <a:r>
              <a:rPr lang="en-US" sz="1400" b="1" dirty="0">
                <a:solidFill>
                  <a:srgbClr val="185E98"/>
                </a:solidFill>
                <a:latin typeface="Yu Gothic" pitchFamily="34" charset="0"/>
                <a:ea typeface="Yu Gothic" pitchFamily="34" charset="-122"/>
                <a:cs typeface="Yu Gothic" pitchFamily="34" charset="-120"/>
              </a:rPr>
              <a:t>Looker Studio可視化イメージ</a:t>
            </a:r>
            <a:endParaRPr lang="en-US" sz="1400" dirty="0"/>
          </a:p>
        </p:txBody>
      </p:sp>
      <p:sp>
        <p:nvSpPr>
          <p:cNvPr id="22" name="Shape 20"/>
          <p:cNvSpPr/>
          <p:nvPr/>
        </p:nvSpPr>
        <p:spPr>
          <a:xfrm>
            <a:off x="5394960" y="233172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3" name="Text 21"/>
          <p:cNvSpPr/>
          <p:nvPr/>
        </p:nvSpPr>
        <p:spPr>
          <a:xfrm>
            <a:off x="5522976" y="245059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未対応</a:t>
            </a:r>
            <a:endParaRPr lang="en-US" sz="760" dirty="0"/>
          </a:p>
        </p:txBody>
      </p:sp>
      <p:sp>
        <p:nvSpPr>
          <p:cNvPr id="24" name="Text 22"/>
          <p:cNvSpPr/>
          <p:nvPr/>
        </p:nvSpPr>
        <p:spPr>
          <a:xfrm>
            <a:off x="5522976" y="2651760"/>
            <a:ext cx="1783080" cy="384048"/>
          </a:xfrm>
          <a:prstGeom prst="rect">
            <a:avLst/>
          </a:prstGeom>
          <a:noFill/>
          <a:ln/>
        </p:spPr>
        <p:txBody>
          <a:bodyPr wrap="square" lIns="0" tIns="0" rIns="0" bIns="0" rtlCol="0" anchor="ctr"/>
          <a:lstStyle/>
          <a:p>
            <a:pPr indent="0" marL="0">
              <a:buNone/>
            </a:pPr>
            <a:r>
              <a:rPr lang="en-US" sz="2400" b="1" dirty="0">
                <a:solidFill>
                  <a:srgbClr val="E18B2D"/>
                </a:solidFill>
                <a:latin typeface="Yu Gothic" pitchFamily="34" charset="0"/>
                <a:ea typeface="Yu Gothic" pitchFamily="34" charset="-122"/>
                <a:cs typeface="Yu Gothic" pitchFamily="34" charset="-120"/>
              </a:rPr>
              <a:t>34</a:t>
            </a:r>
            <a:endParaRPr lang="en-US" sz="2400" dirty="0"/>
          </a:p>
        </p:txBody>
      </p:sp>
      <p:sp>
        <p:nvSpPr>
          <p:cNvPr id="25" name="Shape 23"/>
          <p:cNvSpPr/>
          <p:nvPr/>
        </p:nvSpPr>
        <p:spPr>
          <a:xfrm>
            <a:off x="7635240" y="2331720"/>
            <a:ext cx="2057400" cy="868680"/>
          </a:xfrm>
          <a:prstGeom prst="roundRect">
            <a:avLst>
              <a:gd name="adj" fmla="val 8421"/>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6" name="Text 24"/>
          <p:cNvSpPr/>
          <p:nvPr/>
        </p:nvSpPr>
        <p:spPr>
          <a:xfrm>
            <a:off x="7763256" y="2450592"/>
            <a:ext cx="1783080" cy="164592"/>
          </a:xfrm>
          <a:prstGeom prst="rect">
            <a:avLst/>
          </a:prstGeom>
          <a:noFill/>
          <a:ln/>
        </p:spPr>
        <p:txBody>
          <a:bodyPr wrap="square" lIns="0" tIns="0" rIns="0" bIns="0" rtlCol="0" anchor="ctr"/>
          <a:lstStyle/>
          <a:p>
            <a:pPr indent="0" marL="0">
              <a:buNone/>
            </a:pPr>
            <a:r>
              <a:rPr lang="en-US" sz="760" b="1" dirty="0">
                <a:solidFill>
                  <a:srgbClr val="64748B"/>
                </a:solidFill>
                <a:latin typeface="Yu Gothic" pitchFamily="34" charset="0"/>
                <a:ea typeface="Yu Gothic" pitchFamily="34" charset="-122"/>
                <a:cs typeface="Yu Gothic" pitchFamily="34" charset="-120"/>
              </a:rPr>
              <a:t>重症</a:t>
            </a:r>
            <a:endParaRPr lang="en-US" sz="760" dirty="0"/>
          </a:p>
        </p:txBody>
      </p:sp>
      <p:sp>
        <p:nvSpPr>
          <p:cNvPr id="27" name="Text 25"/>
          <p:cNvSpPr/>
          <p:nvPr/>
        </p:nvSpPr>
        <p:spPr>
          <a:xfrm>
            <a:off x="7763256" y="2651760"/>
            <a:ext cx="1783080" cy="384048"/>
          </a:xfrm>
          <a:prstGeom prst="rect">
            <a:avLst/>
          </a:prstGeom>
          <a:noFill/>
          <a:ln/>
        </p:spPr>
        <p:txBody>
          <a:bodyPr wrap="square" lIns="0" tIns="0" rIns="0" bIns="0" rtlCol="0" anchor="ctr"/>
          <a:lstStyle/>
          <a:p>
            <a:pPr indent="0" marL="0">
              <a:buNone/>
            </a:pPr>
            <a:r>
              <a:rPr lang="en-US" sz="2400" b="1" dirty="0">
                <a:solidFill>
                  <a:srgbClr val="C9342D"/>
                </a:solidFill>
                <a:latin typeface="Yu Gothic" pitchFamily="34" charset="0"/>
                <a:ea typeface="Yu Gothic" pitchFamily="34" charset="-122"/>
                <a:cs typeface="Yu Gothic" pitchFamily="34" charset="-120"/>
              </a:rPr>
              <a:t>3</a:t>
            </a:r>
            <a:endParaRPr lang="en-US" sz="2400" dirty="0"/>
          </a:p>
        </p:txBody>
      </p:sp>
      <p:sp>
        <p:nvSpPr>
          <p:cNvPr id="28" name="Shape 26"/>
          <p:cNvSpPr/>
          <p:nvPr/>
        </p:nvSpPr>
        <p:spPr>
          <a:xfrm>
            <a:off x="5413248" y="3456432"/>
            <a:ext cx="5303520" cy="685800"/>
          </a:xfrm>
          <a:prstGeom prst="rect">
            <a:avLst/>
          </a:prstGeom>
          <a:solidFill>
            <a:srgbClr val="EAF4F7"/>
          </a:solidFill>
          <a:ln w="12700">
            <a:solidFill>
              <a:srgbClr val="EAF4F7"/>
            </a:solidFill>
            <a:prstDash val="solid"/>
          </a:ln>
        </p:spPr>
      </p:sp>
      <p:sp>
        <p:nvSpPr>
          <p:cNvPr id="29" name="Text 27"/>
          <p:cNvSpPr/>
          <p:nvPr/>
        </p:nvSpPr>
        <p:spPr>
          <a:xfrm>
            <a:off x="5623560" y="3675888"/>
            <a:ext cx="4846320" cy="182880"/>
          </a:xfrm>
          <a:prstGeom prst="rect">
            <a:avLst/>
          </a:prstGeom>
          <a:noFill/>
          <a:ln/>
        </p:spPr>
        <p:txBody>
          <a:bodyPr wrap="square" lIns="0" tIns="0" rIns="0" bIns="0" rtlCol="0" anchor="ctr"/>
          <a:lstStyle/>
          <a:p>
            <a:pPr algn="ctr" indent="0" marL="0">
              <a:buNone/>
            </a:pPr>
            <a:r>
              <a:rPr lang="en-US" sz="1100" b="1" dirty="0">
                <a:solidFill>
                  <a:srgbClr val="166F77"/>
                </a:solidFill>
                <a:latin typeface="Yu Gothic" pitchFamily="34" charset="0"/>
                <a:ea typeface="Yu Gothic" pitchFamily="34" charset="-122"/>
                <a:cs typeface="Yu Gothic" pitchFamily="34" charset="-120"/>
              </a:rPr>
              <a:t>都道府県・患者区分・重症度で絞り込み</a:t>
            </a:r>
            <a:endParaRPr lang="en-US" sz="1100" dirty="0"/>
          </a:p>
        </p:txBody>
      </p:sp>
      <p:sp>
        <p:nvSpPr>
          <p:cNvPr id="30" name="Text 28"/>
          <p:cNvSpPr/>
          <p:nvPr/>
        </p:nvSpPr>
        <p:spPr>
          <a:xfrm>
            <a:off x="5440680" y="4343400"/>
            <a:ext cx="5212080" cy="182880"/>
          </a:xfrm>
          <a:prstGeom prst="rect">
            <a:avLst/>
          </a:prstGeom>
          <a:noFill/>
          <a:ln/>
        </p:spPr>
        <p:txBody>
          <a:bodyPr wrap="square" lIns="0" tIns="0" rIns="0" bIns="0" rtlCol="0" anchor="ctr"/>
          <a:lstStyle/>
          <a:p>
            <a:pPr algn="ctr" indent="0" marL="0">
              <a:buNone/>
            </a:pPr>
            <a:r>
              <a:rPr lang="en-US" sz="950" dirty="0">
                <a:solidFill>
                  <a:srgbClr val="64748B"/>
                </a:solidFill>
                <a:latin typeface="Yu Gothic" pitchFamily="34" charset="0"/>
                <a:ea typeface="Yu Gothic" pitchFamily="34" charset="-122"/>
                <a:cs typeface="Yu Gothic" pitchFamily="34" charset="-120"/>
              </a:rPr>
              <a:t>地図表示: 位置情報を送信した患者の所在地確認</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実装・運用</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09</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多施設運用を前提に、設定を画面から完結できるよう設計</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非エンジニアでも導入できることを重視</a:t>
            </a:r>
            <a:endParaRPr lang="en-US" sz="950" dirty="0"/>
          </a:p>
        </p:txBody>
      </p:sp>
      <p:sp>
        <p:nvSpPr>
          <p:cNvPr id="7" name="Shape 5"/>
          <p:cNvSpPr/>
          <p:nvPr/>
        </p:nvSpPr>
        <p:spPr>
          <a:xfrm>
            <a:off x="777240" y="1645920"/>
            <a:ext cx="4983480" cy="1143000"/>
          </a:xfrm>
          <a:prstGeom prst="roundRect">
            <a:avLst>
              <a:gd name="adj" fmla="val 6400"/>
            </a:avLst>
          </a:prstGeom>
          <a:solidFill>
            <a:srgbClr val="EAF4F7"/>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Text 6"/>
          <p:cNvSpPr/>
          <p:nvPr/>
        </p:nvSpPr>
        <p:spPr>
          <a:xfrm>
            <a:off x="1005840" y="1847088"/>
            <a:ext cx="1920240" cy="228600"/>
          </a:xfrm>
          <a:prstGeom prst="rect">
            <a:avLst/>
          </a:prstGeom>
          <a:noFill/>
          <a:ln/>
        </p:spPr>
        <p:txBody>
          <a:bodyPr wrap="square" lIns="0" tIns="0" rIns="0" bIns="0" rtlCol="0" anchor="ctr"/>
          <a:lstStyle/>
          <a:p>
            <a:pPr indent="0" marL="0">
              <a:buNone/>
            </a:pPr>
            <a:r>
              <a:rPr lang="en-US" sz="1300" b="1" dirty="0">
                <a:solidFill>
                  <a:srgbClr val="185E98"/>
                </a:solidFill>
                <a:latin typeface="Yu Gothic" pitchFamily="34" charset="0"/>
                <a:ea typeface="Yu Gothic" pitchFamily="34" charset="-122"/>
                <a:cs typeface="Yu Gothic" pitchFamily="34" charset="-120"/>
              </a:rPr>
              <a:t>施設ID管理</a:t>
            </a:r>
            <a:endParaRPr lang="en-US" sz="1300" dirty="0"/>
          </a:p>
        </p:txBody>
      </p:sp>
      <p:sp>
        <p:nvSpPr>
          <p:cNvPr id="9" name="Text 7"/>
          <p:cNvSpPr/>
          <p:nvPr/>
        </p:nvSpPr>
        <p:spPr>
          <a:xfrm>
            <a:off x="1005840" y="2212848"/>
            <a:ext cx="4526280" cy="274320"/>
          </a:xfrm>
          <a:prstGeom prst="rect">
            <a:avLst/>
          </a:prstGeom>
          <a:noFill/>
          <a:ln/>
        </p:spPr>
        <p:txBody>
          <a:bodyPr wrap="square" lIns="0" tIns="0" rIns="0" bIns="0" rtlCol="0" anchor="ctr">
            <a:normAutofit/>
          </a:bodyPr>
          <a:lstStyle/>
          <a:p>
            <a:pPr indent="0" marL="0">
              <a:buNone/>
            </a:pPr>
            <a:r>
              <a:rPr lang="en-US" sz="1020" dirty="0">
                <a:solidFill>
                  <a:srgbClr val="132033"/>
                </a:solidFill>
                <a:latin typeface="Yu Gothic" pitchFamily="34" charset="0"/>
                <a:ea typeface="Yu Gothic" pitchFamily="34" charset="-122"/>
                <a:cs typeface="Yu Gothic" pitchFamily="34" charset="-120"/>
              </a:rPr>
              <a:t>施設ごとにログイン、LINE、Google Sheetsを分離</a:t>
            </a:r>
            <a:endParaRPr lang="en-US" sz="1020" dirty="0"/>
          </a:p>
        </p:txBody>
      </p:sp>
      <p:sp>
        <p:nvSpPr>
          <p:cNvPr id="10" name="Shape 8"/>
          <p:cNvSpPr/>
          <p:nvPr/>
        </p:nvSpPr>
        <p:spPr>
          <a:xfrm>
            <a:off x="6263640" y="1645920"/>
            <a:ext cx="4983480" cy="1143000"/>
          </a:xfrm>
          <a:prstGeom prst="roundRect">
            <a:avLst>
              <a:gd name="adj" fmla="val 6400"/>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1" name="Text 9"/>
          <p:cNvSpPr/>
          <p:nvPr/>
        </p:nvSpPr>
        <p:spPr>
          <a:xfrm>
            <a:off x="6492240" y="1847088"/>
            <a:ext cx="1920240" cy="228600"/>
          </a:xfrm>
          <a:prstGeom prst="rect">
            <a:avLst/>
          </a:prstGeom>
          <a:noFill/>
          <a:ln/>
        </p:spPr>
        <p:txBody>
          <a:bodyPr wrap="square" lIns="0" tIns="0" rIns="0" bIns="0" rtlCol="0" anchor="ctr"/>
          <a:lstStyle/>
          <a:p>
            <a:pPr indent="0" marL="0">
              <a:buNone/>
            </a:pPr>
            <a:r>
              <a:rPr lang="en-US" sz="1300" b="1" dirty="0">
                <a:solidFill>
                  <a:srgbClr val="185E98"/>
                </a:solidFill>
                <a:latin typeface="Yu Gothic" pitchFamily="34" charset="0"/>
                <a:ea typeface="Yu Gothic" pitchFamily="34" charset="-122"/>
                <a:cs typeface="Yu Gothic" pitchFamily="34" charset="-120"/>
              </a:rPr>
              <a:t>Google連携手順</a:t>
            </a:r>
            <a:endParaRPr lang="en-US" sz="1300" dirty="0"/>
          </a:p>
        </p:txBody>
      </p:sp>
      <p:sp>
        <p:nvSpPr>
          <p:cNvPr id="12" name="Text 10"/>
          <p:cNvSpPr/>
          <p:nvPr/>
        </p:nvSpPr>
        <p:spPr>
          <a:xfrm>
            <a:off x="6492240" y="2212848"/>
            <a:ext cx="4526280" cy="274320"/>
          </a:xfrm>
          <a:prstGeom prst="rect">
            <a:avLst/>
          </a:prstGeom>
          <a:noFill/>
          <a:ln/>
        </p:spPr>
        <p:txBody>
          <a:bodyPr wrap="square" lIns="0" tIns="0" rIns="0" bIns="0" rtlCol="0" anchor="ctr">
            <a:normAutofit/>
          </a:bodyPr>
          <a:lstStyle/>
          <a:p>
            <a:pPr indent="0" marL="0">
              <a:buNone/>
            </a:pPr>
            <a:r>
              <a:rPr lang="en-US" sz="1020" dirty="0">
                <a:solidFill>
                  <a:srgbClr val="132033"/>
                </a:solidFill>
                <a:latin typeface="Yu Gothic" pitchFamily="34" charset="0"/>
                <a:ea typeface="Yu Gothic" pitchFamily="34" charset="-122"/>
                <a:cs typeface="Yu Gothic" pitchFamily="34" charset="-120"/>
              </a:rPr>
              <a:t>サービスアカウント、共有先メール、初期化を画面で案内</a:t>
            </a:r>
            <a:endParaRPr lang="en-US" sz="1020" dirty="0"/>
          </a:p>
        </p:txBody>
      </p:sp>
      <p:sp>
        <p:nvSpPr>
          <p:cNvPr id="13" name="Shape 11"/>
          <p:cNvSpPr/>
          <p:nvPr/>
        </p:nvSpPr>
        <p:spPr>
          <a:xfrm>
            <a:off x="777240" y="3154680"/>
            <a:ext cx="4983480" cy="1143000"/>
          </a:xfrm>
          <a:prstGeom prst="roundRect">
            <a:avLst>
              <a:gd name="adj" fmla="val 6400"/>
            </a:avLst>
          </a:prstGeom>
          <a:solidFill>
            <a:srgbClr val="EAF4F7"/>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4" name="Text 12"/>
          <p:cNvSpPr/>
          <p:nvPr/>
        </p:nvSpPr>
        <p:spPr>
          <a:xfrm>
            <a:off x="1005840" y="3355848"/>
            <a:ext cx="1920240" cy="228600"/>
          </a:xfrm>
          <a:prstGeom prst="rect">
            <a:avLst/>
          </a:prstGeom>
          <a:noFill/>
          <a:ln/>
        </p:spPr>
        <p:txBody>
          <a:bodyPr wrap="square" lIns="0" tIns="0" rIns="0" bIns="0" rtlCol="0" anchor="ctr"/>
          <a:lstStyle/>
          <a:p>
            <a:pPr indent="0" marL="0">
              <a:buNone/>
            </a:pPr>
            <a:r>
              <a:rPr lang="en-US" sz="1300" b="1" dirty="0">
                <a:solidFill>
                  <a:srgbClr val="185E98"/>
                </a:solidFill>
                <a:latin typeface="Yu Gothic" pitchFamily="34" charset="0"/>
                <a:ea typeface="Yu Gothic" pitchFamily="34" charset="-122"/>
                <a:cs typeface="Yu Gothic" pitchFamily="34" charset="-120"/>
              </a:rPr>
              <a:t>LINE接続診断</a:t>
            </a:r>
            <a:endParaRPr lang="en-US" sz="1300" dirty="0"/>
          </a:p>
        </p:txBody>
      </p:sp>
      <p:sp>
        <p:nvSpPr>
          <p:cNvPr id="15" name="Text 13"/>
          <p:cNvSpPr/>
          <p:nvPr/>
        </p:nvSpPr>
        <p:spPr>
          <a:xfrm>
            <a:off x="1005840" y="3721608"/>
            <a:ext cx="4526280" cy="274320"/>
          </a:xfrm>
          <a:prstGeom prst="rect">
            <a:avLst/>
          </a:prstGeom>
          <a:noFill/>
          <a:ln/>
        </p:spPr>
        <p:txBody>
          <a:bodyPr wrap="square" lIns="0" tIns="0" rIns="0" bIns="0" rtlCol="0" anchor="ctr">
            <a:normAutofit/>
          </a:bodyPr>
          <a:lstStyle/>
          <a:p>
            <a:pPr indent="0" marL="0">
              <a:buNone/>
            </a:pPr>
            <a:r>
              <a:rPr lang="en-US" sz="1020" dirty="0">
                <a:solidFill>
                  <a:srgbClr val="132033"/>
                </a:solidFill>
                <a:latin typeface="Yu Gothic" pitchFamily="34" charset="0"/>
                <a:ea typeface="Yu Gothic" pitchFamily="34" charset="-122"/>
                <a:cs typeface="Yu Gothic" pitchFamily="34" charset="-120"/>
              </a:rPr>
              <a:t>Webhook受信、destination、アクセストークンを確認</a:t>
            </a:r>
            <a:endParaRPr lang="en-US" sz="1020" dirty="0"/>
          </a:p>
        </p:txBody>
      </p:sp>
      <p:sp>
        <p:nvSpPr>
          <p:cNvPr id="16" name="Shape 14"/>
          <p:cNvSpPr/>
          <p:nvPr/>
        </p:nvSpPr>
        <p:spPr>
          <a:xfrm>
            <a:off x="6263640" y="3154680"/>
            <a:ext cx="4983480" cy="1143000"/>
          </a:xfrm>
          <a:prstGeom prst="roundRect">
            <a:avLst>
              <a:gd name="adj" fmla="val 6400"/>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7" name="Text 15"/>
          <p:cNvSpPr/>
          <p:nvPr/>
        </p:nvSpPr>
        <p:spPr>
          <a:xfrm>
            <a:off x="6492240" y="3355848"/>
            <a:ext cx="1920240" cy="228600"/>
          </a:xfrm>
          <a:prstGeom prst="rect">
            <a:avLst/>
          </a:prstGeom>
          <a:noFill/>
          <a:ln/>
        </p:spPr>
        <p:txBody>
          <a:bodyPr wrap="square" lIns="0" tIns="0" rIns="0" bIns="0" rtlCol="0" anchor="ctr"/>
          <a:lstStyle/>
          <a:p>
            <a:pPr indent="0" marL="0">
              <a:buNone/>
            </a:pPr>
            <a:r>
              <a:rPr lang="en-US" sz="1300" b="1" dirty="0">
                <a:solidFill>
                  <a:srgbClr val="185E98"/>
                </a:solidFill>
                <a:latin typeface="Yu Gothic" pitchFamily="34" charset="0"/>
                <a:ea typeface="Yu Gothic" pitchFamily="34" charset="-122"/>
                <a:cs typeface="Yu Gothic" pitchFamily="34" charset="-120"/>
              </a:rPr>
              <a:t>運用マニュアル</a:t>
            </a:r>
            <a:endParaRPr lang="en-US" sz="1300" dirty="0"/>
          </a:p>
        </p:txBody>
      </p:sp>
      <p:sp>
        <p:nvSpPr>
          <p:cNvPr id="18" name="Text 16"/>
          <p:cNvSpPr/>
          <p:nvPr/>
        </p:nvSpPr>
        <p:spPr>
          <a:xfrm>
            <a:off x="6492240" y="3721608"/>
            <a:ext cx="4526280" cy="274320"/>
          </a:xfrm>
          <a:prstGeom prst="rect">
            <a:avLst/>
          </a:prstGeom>
          <a:noFill/>
          <a:ln/>
        </p:spPr>
        <p:txBody>
          <a:bodyPr wrap="square" lIns="0" tIns="0" rIns="0" bIns="0" rtlCol="0" anchor="ctr">
            <a:normAutofit/>
          </a:bodyPr>
          <a:lstStyle/>
          <a:p>
            <a:pPr indent="0" marL="0">
              <a:buNone/>
            </a:pPr>
            <a:r>
              <a:rPr lang="en-US" sz="1020" dirty="0">
                <a:solidFill>
                  <a:srgbClr val="132033"/>
                </a:solidFill>
                <a:latin typeface="Yu Gothic" pitchFamily="34" charset="0"/>
                <a:ea typeface="Yu Gothic" pitchFamily="34" charset="-122"/>
                <a:cs typeface="Yu Gothic" pitchFamily="34" charset="-120"/>
              </a:rPr>
              <a:t>患者登録、送信、トラブル対応をサイト内に掲載</a:t>
            </a:r>
            <a:endParaRPr lang="en-US" sz="1020" dirty="0"/>
          </a:p>
        </p:txBody>
      </p:sp>
      <p:sp>
        <p:nvSpPr>
          <p:cNvPr id="19" name="Text 17"/>
          <p:cNvSpPr/>
          <p:nvPr/>
        </p:nvSpPr>
        <p:spPr>
          <a:xfrm>
            <a:off x="914400" y="5257800"/>
            <a:ext cx="10241280" cy="320040"/>
          </a:xfrm>
          <a:prstGeom prst="rect">
            <a:avLst/>
          </a:prstGeom>
          <a:noFill/>
          <a:ln/>
        </p:spPr>
        <p:txBody>
          <a:bodyPr wrap="square" lIns="0" tIns="0" rIns="0" bIns="0" rtlCol="0" anchor="ctr"/>
          <a:lstStyle/>
          <a:p>
            <a:pPr algn="ctr" indent="0" marL="0">
              <a:buNone/>
            </a:pPr>
            <a:r>
              <a:rPr lang="en-US" sz="1550" b="1" dirty="0">
                <a:solidFill>
                  <a:srgbClr val="166F77"/>
                </a:solidFill>
                <a:latin typeface="Yu Gothic" pitchFamily="34" charset="0"/>
                <a:ea typeface="Yu Gothic" pitchFamily="34" charset="-122"/>
                <a:cs typeface="Yu Gothic" pitchFamily="34" charset="-120"/>
              </a:rPr>
              <a:t>院内スタッフで動作確認し、実運用に向けて患者登録・LINE連携・写真/位置情報受信を整備</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期待される効果</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10</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電話連絡の負担を減らし、要対応患者への集中を支援</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災害時だけでなく、通常診療のフォローにも応用可能</a:t>
            </a:r>
            <a:endParaRPr lang="en-US" sz="950" dirty="0"/>
          </a:p>
        </p:txBody>
      </p:sp>
      <p:sp>
        <p:nvSpPr>
          <p:cNvPr id="7" name="Shape 5"/>
          <p:cNvSpPr/>
          <p:nvPr/>
        </p:nvSpPr>
        <p:spPr>
          <a:xfrm>
            <a:off x="731520" y="1828800"/>
            <a:ext cx="2423160" cy="2971800"/>
          </a:xfrm>
          <a:prstGeom prst="roundRect">
            <a:avLst>
              <a:gd name="adj" fmla="val 3019"/>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8" name="Shape 6"/>
          <p:cNvSpPr/>
          <p:nvPr/>
        </p:nvSpPr>
        <p:spPr>
          <a:xfrm>
            <a:off x="1517904" y="2084832"/>
            <a:ext cx="841248" cy="841248"/>
          </a:xfrm>
          <a:prstGeom prst="ellipse">
            <a:avLst/>
          </a:prstGeom>
          <a:solidFill>
            <a:srgbClr val="185E98"/>
          </a:solidFill>
          <a:ln w="12700">
            <a:solidFill>
              <a:srgbClr val="185E98"/>
            </a:solidFill>
            <a:prstDash val="solid"/>
          </a:ln>
        </p:spPr>
      </p:sp>
      <p:sp>
        <p:nvSpPr>
          <p:cNvPr id="9" name="Text 7"/>
          <p:cNvSpPr/>
          <p:nvPr/>
        </p:nvSpPr>
        <p:spPr>
          <a:xfrm>
            <a:off x="1517904" y="2322576"/>
            <a:ext cx="841248" cy="164592"/>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0" name="Text 8"/>
          <p:cNvSpPr/>
          <p:nvPr/>
        </p:nvSpPr>
        <p:spPr>
          <a:xfrm>
            <a:off x="960120" y="3246120"/>
            <a:ext cx="1965960" cy="256032"/>
          </a:xfrm>
          <a:prstGeom prst="rect">
            <a:avLst/>
          </a:prstGeom>
          <a:noFill/>
          <a:ln/>
        </p:spPr>
        <p:txBody>
          <a:bodyPr wrap="square" lIns="0" tIns="0" rIns="0" bIns="0" rtlCol="0" anchor="ctr"/>
          <a:lstStyle/>
          <a:p>
            <a:pPr algn="ctr" indent="0" marL="0">
              <a:buNone/>
            </a:pPr>
            <a:r>
              <a:rPr lang="en-US" sz="1300" b="1" dirty="0">
                <a:solidFill>
                  <a:srgbClr val="132033"/>
                </a:solidFill>
                <a:latin typeface="Yu Gothic" pitchFamily="34" charset="0"/>
                <a:ea typeface="Yu Gothic" pitchFamily="34" charset="-122"/>
                <a:cs typeface="Yu Gothic" pitchFamily="34" charset="-120"/>
              </a:rPr>
              <a:t>早い把握</a:t>
            </a:r>
            <a:endParaRPr lang="en-US" sz="1300" dirty="0"/>
          </a:p>
        </p:txBody>
      </p:sp>
      <p:sp>
        <p:nvSpPr>
          <p:cNvPr id="11" name="Text 9"/>
          <p:cNvSpPr/>
          <p:nvPr/>
        </p:nvSpPr>
        <p:spPr>
          <a:xfrm>
            <a:off x="960120" y="3730752"/>
            <a:ext cx="1965960" cy="502920"/>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Yu Gothic" pitchFamily="34" charset="0"/>
                <a:ea typeface="Yu Gothic" pitchFamily="34" charset="-122"/>
                <a:cs typeface="Yu Gothic" pitchFamily="34" charset="-120"/>
              </a:rPr>
              <a:t>全体状況、未回答、重症アラートを短時間で確認</a:t>
            </a:r>
            <a:endParaRPr lang="en-US" sz="950" dirty="0"/>
          </a:p>
        </p:txBody>
      </p:sp>
      <p:sp>
        <p:nvSpPr>
          <p:cNvPr id="12" name="Shape 10"/>
          <p:cNvSpPr/>
          <p:nvPr/>
        </p:nvSpPr>
        <p:spPr>
          <a:xfrm>
            <a:off x="3520440" y="1828800"/>
            <a:ext cx="2423160" cy="2971800"/>
          </a:xfrm>
          <a:prstGeom prst="roundRect">
            <a:avLst>
              <a:gd name="adj" fmla="val 3019"/>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3" name="Shape 11"/>
          <p:cNvSpPr/>
          <p:nvPr/>
        </p:nvSpPr>
        <p:spPr>
          <a:xfrm>
            <a:off x="4306824" y="2084832"/>
            <a:ext cx="841248" cy="841248"/>
          </a:xfrm>
          <a:prstGeom prst="ellipse">
            <a:avLst/>
          </a:prstGeom>
          <a:solidFill>
            <a:srgbClr val="257E6F"/>
          </a:solidFill>
          <a:ln w="12700">
            <a:solidFill>
              <a:srgbClr val="257E6F"/>
            </a:solidFill>
            <a:prstDash val="solid"/>
          </a:ln>
        </p:spPr>
      </p:sp>
      <p:sp>
        <p:nvSpPr>
          <p:cNvPr id="14" name="Text 12"/>
          <p:cNvSpPr/>
          <p:nvPr/>
        </p:nvSpPr>
        <p:spPr>
          <a:xfrm>
            <a:off x="4306824" y="2322576"/>
            <a:ext cx="841248" cy="164592"/>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5" name="Text 13"/>
          <p:cNvSpPr/>
          <p:nvPr/>
        </p:nvSpPr>
        <p:spPr>
          <a:xfrm>
            <a:off x="3749040" y="3246120"/>
            <a:ext cx="1965960" cy="256032"/>
          </a:xfrm>
          <a:prstGeom prst="rect">
            <a:avLst/>
          </a:prstGeom>
          <a:noFill/>
          <a:ln/>
        </p:spPr>
        <p:txBody>
          <a:bodyPr wrap="square" lIns="0" tIns="0" rIns="0" bIns="0" rtlCol="0" anchor="ctr"/>
          <a:lstStyle/>
          <a:p>
            <a:pPr algn="ctr" indent="0" marL="0">
              <a:buNone/>
            </a:pPr>
            <a:r>
              <a:rPr lang="en-US" sz="1300" b="1" dirty="0">
                <a:solidFill>
                  <a:srgbClr val="132033"/>
                </a:solidFill>
                <a:latin typeface="Yu Gothic" pitchFamily="34" charset="0"/>
                <a:ea typeface="Yu Gothic" pitchFamily="34" charset="-122"/>
                <a:cs typeface="Yu Gothic" pitchFamily="34" charset="-120"/>
              </a:rPr>
              <a:t>対応の優先順位</a:t>
            </a:r>
            <a:endParaRPr lang="en-US" sz="1300" dirty="0"/>
          </a:p>
        </p:txBody>
      </p:sp>
      <p:sp>
        <p:nvSpPr>
          <p:cNvPr id="16" name="Text 14"/>
          <p:cNvSpPr/>
          <p:nvPr/>
        </p:nvSpPr>
        <p:spPr>
          <a:xfrm>
            <a:off x="3749040" y="3730752"/>
            <a:ext cx="1965960" cy="502920"/>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Yu Gothic" pitchFamily="34" charset="0"/>
                <a:ea typeface="Yu Gothic" pitchFamily="34" charset="-122"/>
                <a:cs typeface="Yu Gothic" pitchFamily="34" charset="-120"/>
              </a:rPr>
              <a:t>要対応者を一覧上で目立たせ、見落としを減らす</a:t>
            </a:r>
            <a:endParaRPr lang="en-US" sz="950" dirty="0"/>
          </a:p>
        </p:txBody>
      </p:sp>
      <p:sp>
        <p:nvSpPr>
          <p:cNvPr id="17" name="Shape 15"/>
          <p:cNvSpPr/>
          <p:nvPr/>
        </p:nvSpPr>
        <p:spPr>
          <a:xfrm>
            <a:off x="6309360" y="1828800"/>
            <a:ext cx="2423160" cy="2971800"/>
          </a:xfrm>
          <a:prstGeom prst="roundRect">
            <a:avLst>
              <a:gd name="adj" fmla="val 3019"/>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18" name="Shape 16"/>
          <p:cNvSpPr/>
          <p:nvPr/>
        </p:nvSpPr>
        <p:spPr>
          <a:xfrm>
            <a:off x="7095744" y="2084832"/>
            <a:ext cx="841248" cy="841248"/>
          </a:xfrm>
          <a:prstGeom prst="ellipse">
            <a:avLst/>
          </a:prstGeom>
          <a:solidFill>
            <a:srgbClr val="E18B2D"/>
          </a:solidFill>
          <a:ln w="12700">
            <a:solidFill>
              <a:srgbClr val="E18B2D"/>
            </a:solidFill>
            <a:prstDash val="solid"/>
          </a:ln>
        </p:spPr>
      </p:sp>
      <p:sp>
        <p:nvSpPr>
          <p:cNvPr id="19" name="Text 17"/>
          <p:cNvSpPr/>
          <p:nvPr/>
        </p:nvSpPr>
        <p:spPr>
          <a:xfrm>
            <a:off x="7095744" y="2322576"/>
            <a:ext cx="841248" cy="164592"/>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0" name="Text 18"/>
          <p:cNvSpPr/>
          <p:nvPr/>
        </p:nvSpPr>
        <p:spPr>
          <a:xfrm>
            <a:off x="6537960" y="3246120"/>
            <a:ext cx="1965960" cy="256032"/>
          </a:xfrm>
          <a:prstGeom prst="rect">
            <a:avLst/>
          </a:prstGeom>
          <a:noFill/>
          <a:ln/>
        </p:spPr>
        <p:txBody>
          <a:bodyPr wrap="square" lIns="0" tIns="0" rIns="0" bIns="0" rtlCol="0" anchor="ctr"/>
          <a:lstStyle/>
          <a:p>
            <a:pPr algn="ctr" indent="0" marL="0">
              <a:buNone/>
            </a:pPr>
            <a:r>
              <a:rPr lang="en-US" sz="1300" b="1" dirty="0">
                <a:solidFill>
                  <a:srgbClr val="132033"/>
                </a:solidFill>
                <a:latin typeface="Yu Gothic" pitchFamily="34" charset="0"/>
                <a:ea typeface="Yu Gothic" pitchFamily="34" charset="-122"/>
                <a:cs typeface="Yu Gothic" pitchFamily="34" charset="-120"/>
              </a:rPr>
              <a:t>記録性</a:t>
            </a:r>
            <a:endParaRPr lang="en-US" sz="1300" dirty="0"/>
          </a:p>
        </p:txBody>
      </p:sp>
      <p:sp>
        <p:nvSpPr>
          <p:cNvPr id="21" name="Text 19"/>
          <p:cNvSpPr/>
          <p:nvPr/>
        </p:nvSpPr>
        <p:spPr>
          <a:xfrm>
            <a:off x="6537960" y="3730752"/>
            <a:ext cx="1965960" cy="502920"/>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Yu Gothic" pitchFamily="34" charset="0"/>
                <a:ea typeface="Yu Gothic" pitchFamily="34" charset="-122"/>
                <a:cs typeface="Yu Gothic" pitchFamily="34" charset="-120"/>
              </a:rPr>
              <a:t>回答履歴・送信履歴を残し、後から確認できる</a:t>
            </a:r>
            <a:endParaRPr lang="en-US" sz="950" dirty="0"/>
          </a:p>
        </p:txBody>
      </p:sp>
      <p:sp>
        <p:nvSpPr>
          <p:cNvPr id="22" name="Shape 20"/>
          <p:cNvSpPr/>
          <p:nvPr/>
        </p:nvSpPr>
        <p:spPr>
          <a:xfrm>
            <a:off x="9098280" y="1828800"/>
            <a:ext cx="2423160" cy="2971800"/>
          </a:xfrm>
          <a:prstGeom prst="roundRect">
            <a:avLst>
              <a:gd name="adj" fmla="val 3019"/>
            </a:avLst>
          </a:prstGeom>
          <a:solidFill>
            <a:srgbClr val="FFFFFF"/>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23" name="Shape 21"/>
          <p:cNvSpPr/>
          <p:nvPr/>
        </p:nvSpPr>
        <p:spPr>
          <a:xfrm>
            <a:off x="9884664" y="2084832"/>
            <a:ext cx="841248" cy="841248"/>
          </a:xfrm>
          <a:prstGeom prst="ellipse">
            <a:avLst/>
          </a:prstGeom>
          <a:solidFill>
            <a:srgbClr val="C9342D"/>
          </a:solidFill>
          <a:ln w="12700">
            <a:solidFill>
              <a:srgbClr val="C9342D"/>
            </a:solidFill>
            <a:prstDash val="solid"/>
          </a:ln>
        </p:spPr>
      </p:sp>
      <p:sp>
        <p:nvSpPr>
          <p:cNvPr id="24" name="Text 22"/>
          <p:cNvSpPr/>
          <p:nvPr/>
        </p:nvSpPr>
        <p:spPr>
          <a:xfrm>
            <a:off x="9884664" y="2322576"/>
            <a:ext cx="841248" cy="164592"/>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5" name="Text 23"/>
          <p:cNvSpPr/>
          <p:nvPr/>
        </p:nvSpPr>
        <p:spPr>
          <a:xfrm>
            <a:off x="9326880" y="3246120"/>
            <a:ext cx="1965960" cy="256032"/>
          </a:xfrm>
          <a:prstGeom prst="rect">
            <a:avLst/>
          </a:prstGeom>
          <a:noFill/>
          <a:ln/>
        </p:spPr>
        <p:txBody>
          <a:bodyPr wrap="square" lIns="0" tIns="0" rIns="0" bIns="0" rtlCol="0" anchor="ctr"/>
          <a:lstStyle/>
          <a:p>
            <a:pPr algn="ctr" indent="0" marL="0">
              <a:buNone/>
            </a:pPr>
            <a:r>
              <a:rPr lang="en-US" sz="1300" b="1" dirty="0">
                <a:solidFill>
                  <a:srgbClr val="132033"/>
                </a:solidFill>
                <a:latin typeface="Yu Gothic" pitchFamily="34" charset="0"/>
                <a:ea typeface="Yu Gothic" pitchFamily="34" charset="-122"/>
                <a:cs typeface="Yu Gothic" pitchFamily="34" charset="-120"/>
              </a:rPr>
              <a:t>拡張性</a:t>
            </a:r>
            <a:endParaRPr lang="en-US" sz="1300" dirty="0"/>
          </a:p>
        </p:txBody>
      </p:sp>
      <p:sp>
        <p:nvSpPr>
          <p:cNvPr id="26" name="Text 24"/>
          <p:cNvSpPr/>
          <p:nvPr/>
        </p:nvSpPr>
        <p:spPr>
          <a:xfrm>
            <a:off x="9326880" y="3730752"/>
            <a:ext cx="1965960" cy="502920"/>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Yu Gothic" pitchFamily="34" charset="0"/>
                <a:ea typeface="Yu Gothic" pitchFamily="34" charset="-122"/>
                <a:cs typeface="Yu Gothic" pitchFamily="34" charset="-120"/>
              </a:rPr>
              <a:t>1型糖尿病、透析、足病変などへ横展開できる</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28600"/>
          </a:xfrm>
          <a:prstGeom prst="rect">
            <a:avLst/>
          </a:prstGeom>
          <a:solidFill>
            <a:srgbClr val="185E98"/>
          </a:solidFill>
          <a:ln w="12700">
            <a:solidFill>
              <a:srgbClr val="185E98"/>
            </a:solidFill>
            <a:prstDash val="solid"/>
          </a:ln>
        </p:spPr>
      </p:sp>
      <p:sp>
        <p:nvSpPr>
          <p:cNvPr id="3" name="Text 1"/>
          <p:cNvSpPr/>
          <p:nvPr/>
        </p:nvSpPr>
        <p:spPr>
          <a:xfrm>
            <a:off x="411480" y="310896"/>
            <a:ext cx="8778240" cy="228600"/>
          </a:xfrm>
          <a:prstGeom prst="rect">
            <a:avLst/>
          </a:prstGeom>
          <a:noFill/>
          <a:ln/>
        </p:spPr>
        <p:txBody>
          <a:bodyPr wrap="square" rtlCol="0" anchor="ctr"/>
          <a:lstStyle/>
          <a:p>
            <a:pPr indent="0" marL="0">
              <a:buNone/>
            </a:pPr>
            <a:r>
              <a:rPr lang="en-US" sz="850" b="1" dirty="0">
                <a:solidFill>
                  <a:srgbClr val="64748B"/>
                </a:solidFill>
                <a:latin typeface="Yu Gothic" pitchFamily="34" charset="0"/>
                <a:ea typeface="Yu Gothic" pitchFamily="34" charset="-122"/>
                <a:cs typeface="Yu Gothic" pitchFamily="34" charset="-120"/>
              </a:rPr>
              <a:t>今後の評価</a:t>
            </a:r>
            <a:endParaRPr lang="en-US" sz="850" dirty="0"/>
          </a:p>
        </p:txBody>
      </p:sp>
      <p:sp>
        <p:nvSpPr>
          <p:cNvPr id="4" name="Text 2"/>
          <p:cNvSpPr/>
          <p:nvPr/>
        </p:nvSpPr>
        <p:spPr>
          <a:xfrm>
            <a:off x="11155680" y="265176"/>
            <a:ext cx="548640" cy="256032"/>
          </a:xfrm>
          <a:prstGeom prst="rect">
            <a:avLst/>
          </a:prstGeom>
          <a:noFill/>
          <a:ln/>
        </p:spPr>
        <p:txBody>
          <a:bodyPr wrap="square" rtlCol="0" anchor="ctr"/>
          <a:lstStyle/>
          <a:p>
            <a:pPr algn="r" indent="0" marL="0">
              <a:buNone/>
            </a:pPr>
            <a:r>
              <a:rPr lang="en-US" sz="900" dirty="0">
                <a:solidFill>
                  <a:srgbClr val="64748B"/>
                </a:solidFill>
                <a:latin typeface="Yu Gothic" pitchFamily="34" charset="0"/>
                <a:ea typeface="Yu Gothic" pitchFamily="34" charset="-122"/>
                <a:cs typeface="Yu Gothic" pitchFamily="34" charset="-120"/>
              </a:rPr>
              <a:t>11</a:t>
            </a:r>
            <a:endParaRPr lang="en-US" sz="900" dirty="0"/>
          </a:p>
        </p:txBody>
      </p:sp>
      <p:sp>
        <p:nvSpPr>
          <p:cNvPr id="5" name="Text 3"/>
          <p:cNvSpPr/>
          <p:nvPr/>
        </p:nvSpPr>
        <p:spPr>
          <a:xfrm>
            <a:off x="548640" y="621792"/>
            <a:ext cx="10698480" cy="502920"/>
          </a:xfrm>
          <a:prstGeom prst="rect">
            <a:avLst/>
          </a:prstGeom>
          <a:noFill/>
          <a:ln/>
        </p:spPr>
        <p:txBody>
          <a:bodyPr wrap="square" lIns="0" tIns="0" rIns="0" bIns="0" rtlCol="0" anchor="ctr"/>
          <a:lstStyle/>
          <a:p>
            <a:pPr indent="0" marL="0">
              <a:buNone/>
            </a:pPr>
            <a:r>
              <a:rPr lang="en-US" sz="2500" b="1" dirty="0">
                <a:solidFill>
                  <a:srgbClr val="132033"/>
                </a:solidFill>
                <a:latin typeface="Yu Gothic" pitchFamily="34" charset="0"/>
                <a:ea typeface="Yu Gothic" pitchFamily="34" charset="-122"/>
                <a:cs typeface="Yu Gothic" pitchFamily="34" charset="-120"/>
              </a:rPr>
              <a:t>今後は運用データに基づき、有用性と安全性を評価する</a:t>
            </a:r>
            <a:endParaRPr lang="en-US" sz="2500" dirty="0"/>
          </a:p>
        </p:txBody>
      </p:sp>
      <p:sp>
        <p:nvSpPr>
          <p:cNvPr id="6" name="Text 4"/>
          <p:cNvSpPr/>
          <p:nvPr/>
        </p:nvSpPr>
        <p:spPr>
          <a:xfrm>
            <a:off x="566928" y="1152144"/>
            <a:ext cx="9875520" cy="274320"/>
          </a:xfrm>
          <a:prstGeom prst="rect">
            <a:avLst/>
          </a:prstGeom>
          <a:noFill/>
          <a:ln/>
        </p:spPr>
        <p:txBody>
          <a:bodyPr wrap="square" lIns="0" tIns="0" rIns="0" bIns="0" rtlCol="0" anchor="ctr"/>
          <a:lstStyle/>
          <a:p>
            <a:pPr indent="0" marL="0">
              <a:buNone/>
            </a:pPr>
            <a:r>
              <a:rPr lang="en-US" sz="950" dirty="0">
                <a:solidFill>
                  <a:srgbClr val="64748B"/>
                </a:solidFill>
                <a:latin typeface="Yu Gothic" pitchFamily="34" charset="0"/>
                <a:ea typeface="Yu Gothic" pitchFamily="34" charset="-122"/>
                <a:cs typeface="Yu Gothic" pitchFamily="34" charset="-120"/>
              </a:rPr>
              <a:t>導入可能性だけでなく、返信率・対応時間・運用負担を検証</a:t>
            </a:r>
            <a:endParaRPr lang="en-US" sz="950" dirty="0"/>
          </a:p>
        </p:txBody>
      </p:sp>
      <p:sp>
        <p:nvSpPr>
          <p:cNvPr id="7" name="Text 5"/>
          <p:cNvSpPr/>
          <p:nvPr/>
        </p:nvSpPr>
        <p:spPr>
          <a:xfrm>
            <a:off x="868680" y="1828800"/>
            <a:ext cx="4937760" cy="1645920"/>
          </a:xfrm>
          <a:prstGeom prst="rect">
            <a:avLst/>
          </a:prstGeom>
          <a:noFill/>
          <a:ln/>
        </p:spPr>
        <p:txBody>
          <a:bodyPr wrap="square" lIns="508" tIns="508" rIns="508" bIns="508" rtlCol="0" anchor="ctr">
            <a:normAutofit/>
          </a:bodyPr>
          <a:lstStyle/>
          <a:p>
            <a:r>
              <a:rPr lang="en-US" sz="1250" dirty="0">
                <a:solidFill>
                  <a:srgbClr val="132033"/>
                </a:solidFill>
                <a:latin typeface="Yu Gothic" pitchFamily="34" charset="0"/>
                <a:ea typeface="Yu Gothic" pitchFamily="34" charset="-122"/>
                <a:cs typeface="Yu Gothic" pitchFamily="34" charset="-120"/>
              </a:rPr>
              <a:t>返信率・未回答率</a:t>
            </a:r>
            <a:endParaRPr lang="en-US" sz="1250" dirty="0"/>
          </a:p>
          <a:p>
            <a:r>
              <a:rPr lang="en-US" sz="1250" dirty="0">
                <a:solidFill>
                  <a:srgbClr val="132033"/>
                </a:solidFill>
                <a:latin typeface="Yu Gothic" pitchFamily="34" charset="0"/>
                <a:ea typeface="Yu Gothic" pitchFamily="34" charset="-122"/>
                <a:cs typeface="Yu Gothic" pitchFamily="34" charset="-120"/>
              </a:rPr>
              <a:t>一斉送信から初回回答までの時間</a:t>
            </a:r>
            <a:endParaRPr lang="en-US" sz="1250" dirty="0"/>
          </a:p>
          <a:p>
            <a:r>
              <a:rPr lang="en-US" sz="1250" dirty="0">
                <a:solidFill>
                  <a:srgbClr val="132033"/>
                </a:solidFill>
                <a:latin typeface="Yu Gothic" pitchFamily="34" charset="0"/>
                <a:ea typeface="Yu Gothic" pitchFamily="34" charset="-122"/>
                <a:cs typeface="Yu Gothic" pitchFamily="34" charset="-120"/>
              </a:rPr>
              <a:t>重症アラート確認までの時間</a:t>
            </a:r>
            <a:endParaRPr lang="en-US" sz="1250" dirty="0"/>
          </a:p>
          <a:p>
            <a:r>
              <a:rPr lang="en-US" sz="1250" dirty="0">
                <a:solidFill>
                  <a:srgbClr val="132033"/>
                </a:solidFill>
                <a:latin typeface="Yu Gothic" pitchFamily="34" charset="0"/>
                <a:ea typeface="Yu Gothic" pitchFamily="34" charset="-122"/>
                <a:cs typeface="Yu Gothic" pitchFamily="34" charset="-120"/>
              </a:rPr>
              <a:t>電話連絡件数の変化</a:t>
            </a:r>
            <a:endParaRPr lang="en-US" sz="1250" dirty="0"/>
          </a:p>
          <a:p>
            <a:r>
              <a:rPr lang="en-US" sz="1250" dirty="0">
                <a:solidFill>
                  <a:srgbClr val="132033"/>
                </a:solidFill>
                <a:latin typeface="Yu Gothic" pitchFamily="34" charset="0"/>
                <a:ea typeface="Yu Gothic" pitchFamily="34" charset="-122"/>
                <a:cs typeface="Yu Gothic" pitchFamily="34" charset="-120"/>
              </a:rPr>
              <a:t>スタッフの操作負担・受容性</a:t>
            </a:r>
            <a:endParaRPr lang="en-US" sz="1250" dirty="0"/>
          </a:p>
        </p:txBody>
      </p:sp>
      <p:sp>
        <p:nvSpPr>
          <p:cNvPr id="8" name="Shape 6"/>
          <p:cNvSpPr/>
          <p:nvPr/>
        </p:nvSpPr>
        <p:spPr>
          <a:xfrm>
            <a:off x="6400800" y="1600200"/>
            <a:ext cx="4480560" cy="3566160"/>
          </a:xfrm>
          <a:prstGeom prst="roundRect">
            <a:avLst>
              <a:gd name="adj" fmla="val 2051"/>
            </a:avLst>
          </a:prstGeom>
          <a:solidFill>
            <a:srgbClr val="EAF4F7"/>
          </a:solidFill>
          <a:ln w="12700">
            <a:solidFill>
              <a:srgbClr val="DCE6EF"/>
            </a:solidFill>
            <a:prstDash val="solid"/>
          </a:ln>
          <a:effectLst>
            <a:outerShdw sx="100000" sy="100000" kx="0" ky="0" algn="bl" rotWithShape="0" blurRad="12700" dist="50800" dir="2700000">
              <a:srgbClr val="AAB4BF">
                <a:alpha val="12000"/>
              </a:srgbClr>
            </a:outerShdw>
          </a:effectLst>
        </p:spPr>
      </p:sp>
      <p:sp>
        <p:nvSpPr>
          <p:cNvPr id="9" name="Text 7"/>
          <p:cNvSpPr/>
          <p:nvPr/>
        </p:nvSpPr>
        <p:spPr>
          <a:xfrm>
            <a:off x="6720840" y="1874520"/>
            <a:ext cx="3840480" cy="256032"/>
          </a:xfrm>
          <a:prstGeom prst="rect">
            <a:avLst/>
          </a:prstGeom>
          <a:noFill/>
          <a:ln/>
        </p:spPr>
        <p:txBody>
          <a:bodyPr wrap="square" lIns="0" tIns="0" rIns="0" bIns="0" rtlCol="0" anchor="ctr"/>
          <a:lstStyle/>
          <a:p>
            <a:pPr algn="ctr" indent="0" marL="0">
              <a:buNone/>
            </a:pPr>
            <a:r>
              <a:rPr lang="en-US" sz="1500" b="1" dirty="0">
                <a:solidFill>
                  <a:srgbClr val="185E98"/>
                </a:solidFill>
                <a:latin typeface="Yu Gothic" pitchFamily="34" charset="0"/>
                <a:ea typeface="Yu Gothic" pitchFamily="34" charset="-122"/>
                <a:cs typeface="Yu Gothic" pitchFamily="34" charset="-120"/>
              </a:rPr>
              <a:t>評価デザイン案</a:t>
            </a:r>
            <a:endParaRPr lang="en-US" sz="1500" dirty="0"/>
          </a:p>
        </p:txBody>
      </p:sp>
      <p:sp>
        <p:nvSpPr>
          <p:cNvPr id="10" name="Shape 8"/>
          <p:cNvSpPr/>
          <p:nvPr/>
        </p:nvSpPr>
        <p:spPr>
          <a:xfrm>
            <a:off x="6903720" y="2487168"/>
            <a:ext cx="3474720" cy="347472"/>
          </a:xfrm>
          <a:prstGeom prst="roundRect">
            <a:avLst>
              <a:gd name="adj" fmla="val 21053"/>
            </a:avLst>
          </a:prstGeom>
          <a:solidFill>
            <a:srgbClr val="FFFFFF"/>
          </a:solidFill>
          <a:ln w="12700">
            <a:solidFill>
              <a:srgbClr val="DCE6EF"/>
            </a:solidFill>
            <a:prstDash val="solid"/>
          </a:ln>
        </p:spPr>
      </p:sp>
      <p:sp>
        <p:nvSpPr>
          <p:cNvPr id="11" name="Text 9"/>
          <p:cNvSpPr/>
          <p:nvPr/>
        </p:nvSpPr>
        <p:spPr>
          <a:xfrm>
            <a:off x="7086600" y="2578608"/>
            <a:ext cx="3108960" cy="109728"/>
          </a:xfrm>
          <a:prstGeom prst="rect">
            <a:avLst/>
          </a:prstGeom>
          <a:noFill/>
          <a:ln/>
        </p:spPr>
        <p:txBody>
          <a:bodyPr wrap="square" lIns="0" tIns="0" rIns="0" bIns="0" rtlCol="0" anchor="ctr"/>
          <a:lstStyle/>
          <a:p>
            <a:pPr algn="ctr" indent="0" marL="0">
              <a:buNone/>
            </a:pPr>
            <a:r>
              <a:rPr lang="en-US" sz="950" b="1" dirty="0">
                <a:solidFill>
                  <a:srgbClr val="132033"/>
                </a:solidFill>
                <a:latin typeface="Yu Gothic" pitchFamily="34" charset="0"/>
                <a:ea typeface="Yu Gothic" pitchFamily="34" charset="-122"/>
                <a:cs typeface="Yu Gothic" pitchFamily="34" charset="-120"/>
              </a:rPr>
              <a:t>院内デモ</a:t>
            </a:r>
            <a:endParaRPr lang="en-US" sz="950" dirty="0"/>
          </a:p>
        </p:txBody>
      </p:sp>
      <p:sp>
        <p:nvSpPr>
          <p:cNvPr id="12" name="Shape 10"/>
          <p:cNvSpPr/>
          <p:nvPr/>
        </p:nvSpPr>
        <p:spPr>
          <a:xfrm>
            <a:off x="6903720" y="3054096"/>
            <a:ext cx="3474720" cy="347472"/>
          </a:xfrm>
          <a:prstGeom prst="roundRect">
            <a:avLst>
              <a:gd name="adj" fmla="val 21053"/>
            </a:avLst>
          </a:prstGeom>
          <a:solidFill>
            <a:srgbClr val="FFFFFF"/>
          </a:solidFill>
          <a:ln w="12700">
            <a:solidFill>
              <a:srgbClr val="DCE6EF"/>
            </a:solidFill>
            <a:prstDash val="solid"/>
          </a:ln>
        </p:spPr>
      </p:sp>
      <p:sp>
        <p:nvSpPr>
          <p:cNvPr id="13" name="Text 11"/>
          <p:cNvSpPr/>
          <p:nvPr/>
        </p:nvSpPr>
        <p:spPr>
          <a:xfrm>
            <a:off x="7086600" y="3145536"/>
            <a:ext cx="3108960" cy="109728"/>
          </a:xfrm>
          <a:prstGeom prst="rect">
            <a:avLst/>
          </a:prstGeom>
          <a:noFill/>
          <a:ln/>
        </p:spPr>
        <p:txBody>
          <a:bodyPr wrap="square" lIns="0" tIns="0" rIns="0" bIns="0" rtlCol="0" anchor="ctr"/>
          <a:lstStyle/>
          <a:p>
            <a:pPr algn="ctr" indent="0" marL="0">
              <a:buNone/>
            </a:pPr>
            <a:r>
              <a:rPr lang="en-US" sz="950" b="1" dirty="0">
                <a:solidFill>
                  <a:srgbClr val="132033"/>
                </a:solidFill>
                <a:latin typeface="Yu Gothic" pitchFamily="34" charset="0"/>
                <a:ea typeface="Yu Gothic" pitchFamily="34" charset="-122"/>
                <a:cs typeface="Yu Gothic" pitchFamily="34" charset="-120"/>
              </a:rPr>
              <a:t>小規模患者群</a:t>
            </a:r>
            <a:endParaRPr lang="en-US" sz="950" dirty="0"/>
          </a:p>
        </p:txBody>
      </p:sp>
      <p:sp>
        <p:nvSpPr>
          <p:cNvPr id="14" name="Shape 12"/>
          <p:cNvSpPr/>
          <p:nvPr/>
        </p:nvSpPr>
        <p:spPr>
          <a:xfrm>
            <a:off x="6903720" y="3621024"/>
            <a:ext cx="3474720" cy="347472"/>
          </a:xfrm>
          <a:prstGeom prst="roundRect">
            <a:avLst>
              <a:gd name="adj" fmla="val 21053"/>
            </a:avLst>
          </a:prstGeom>
          <a:solidFill>
            <a:srgbClr val="FFFFFF"/>
          </a:solidFill>
          <a:ln w="12700">
            <a:solidFill>
              <a:srgbClr val="DCE6EF"/>
            </a:solidFill>
            <a:prstDash val="solid"/>
          </a:ln>
        </p:spPr>
      </p:sp>
      <p:sp>
        <p:nvSpPr>
          <p:cNvPr id="15" name="Text 13"/>
          <p:cNvSpPr/>
          <p:nvPr/>
        </p:nvSpPr>
        <p:spPr>
          <a:xfrm>
            <a:off x="7086600" y="3712464"/>
            <a:ext cx="3108960" cy="109728"/>
          </a:xfrm>
          <a:prstGeom prst="rect">
            <a:avLst/>
          </a:prstGeom>
          <a:noFill/>
          <a:ln/>
        </p:spPr>
        <p:txBody>
          <a:bodyPr wrap="square" lIns="0" tIns="0" rIns="0" bIns="0" rtlCol="0" anchor="ctr"/>
          <a:lstStyle/>
          <a:p>
            <a:pPr algn="ctr" indent="0" marL="0">
              <a:buNone/>
            </a:pPr>
            <a:r>
              <a:rPr lang="en-US" sz="950" b="1" dirty="0">
                <a:solidFill>
                  <a:srgbClr val="132033"/>
                </a:solidFill>
                <a:latin typeface="Yu Gothic" pitchFamily="34" charset="0"/>
                <a:ea typeface="Yu Gothic" pitchFamily="34" charset="-122"/>
                <a:cs typeface="Yu Gothic" pitchFamily="34" charset="-120"/>
              </a:rPr>
              <a:t>災害訓練</a:t>
            </a:r>
            <a:endParaRPr lang="en-US" sz="950" dirty="0"/>
          </a:p>
        </p:txBody>
      </p:sp>
      <p:sp>
        <p:nvSpPr>
          <p:cNvPr id="16" name="Shape 14"/>
          <p:cNvSpPr/>
          <p:nvPr/>
        </p:nvSpPr>
        <p:spPr>
          <a:xfrm>
            <a:off x="6903720" y="4187952"/>
            <a:ext cx="3474720" cy="347472"/>
          </a:xfrm>
          <a:prstGeom prst="roundRect">
            <a:avLst>
              <a:gd name="adj" fmla="val 21053"/>
            </a:avLst>
          </a:prstGeom>
          <a:solidFill>
            <a:srgbClr val="FFFFFF"/>
          </a:solidFill>
          <a:ln w="12700">
            <a:solidFill>
              <a:srgbClr val="DCE6EF"/>
            </a:solidFill>
            <a:prstDash val="solid"/>
          </a:ln>
        </p:spPr>
      </p:sp>
      <p:sp>
        <p:nvSpPr>
          <p:cNvPr id="17" name="Text 15"/>
          <p:cNvSpPr/>
          <p:nvPr/>
        </p:nvSpPr>
        <p:spPr>
          <a:xfrm>
            <a:off x="7086600" y="4279392"/>
            <a:ext cx="3108960" cy="109728"/>
          </a:xfrm>
          <a:prstGeom prst="rect">
            <a:avLst/>
          </a:prstGeom>
          <a:noFill/>
          <a:ln/>
        </p:spPr>
        <p:txBody>
          <a:bodyPr wrap="square" lIns="0" tIns="0" rIns="0" bIns="0" rtlCol="0" anchor="ctr"/>
          <a:lstStyle/>
          <a:p>
            <a:pPr algn="ctr" indent="0" marL="0">
              <a:buNone/>
            </a:pPr>
            <a:r>
              <a:rPr lang="en-US" sz="950" b="1" dirty="0">
                <a:solidFill>
                  <a:srgbClr val="132033"/>
                </a:solidFill>
                <a:latin typeface="Yu Gothic" pitchFamily="34" charset="0"/>
                <a:ea typeface="Yu Gothic" pitchFamily="34" charset="-122"/>
                <a:cs typeface="Yu Gothic" pitchFamily="34" charset="-120"/>
              </a:rPr>
              <a:t>多施設展開</a:t>
            </a:r>
            <a:endParaRPr lang="en-US" sz="950" dirty="0"/>
          </a:p>
        </p:txBody>
      </p:sp>
      <p:sp>
        <p:nvSpPr>
          <p:cNvPr id="18" name="Text 16"/>
          <p:cNvSpPr/>
          <p:nvPr/>
        </p:nvSpPr>
        <p:spPr>
          <a:xfrm>
            <a:off x="914400" y="5577840"/>
            <a:ext cx="10241280" cy="237744"/>
          </a:xfrm>
          <a:prstGeom prst="rect">
            <a:avLst/>
          </a:prstGeom>
          <a:noFill/>
          <a:ln/>
        </p:spPr>
        <p:txBody>
          <a:bodyPr wrap="square" lIns="0" tIns="0" rIns="0" bIns="0" rtlCol="0" anchor="ctr"/>
          <a:lstStyle/>
          <a:p>
            <a:pPr algn="ctr" indent="0" marL="0">
              <a:buNone/>
            </a:pPr>
            <a:r>
              <a:rPr lang="en-US" sz="1250" b="1" dirty="0">
                <a:solidFill>
                  <a:srgbClr val="C9342D"/>
                </a:solidFill>
                <a:latin typeface="Yu Gothic" pitchFamily="34" charset="0"/>
                <a:ea typeface="Yu Gothic" pitchFamily="34" charset="-122"/>
                <a:cs typeface="Yu Gothic" pitchFamily="34" charset="-120"/>
              </a:rPr>
              <a:t>個人情報保護、緊急時は電話・救急外来という明確な案内を前提に運用</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033"/>
        </a:solidFill>
      </p:bgPr>
    </p:bg>
    <p:spTree>
      <p:nvGrpSpPr>
        <p:cNvPr id="1" name=""/>
        <p:cNvGrpSpPr/>
        <p:nvPr/>
      </p:nvGrpSpPr>
      <p:grpSpPr>
        <a:xfrm>
          <a:off x="0" y="0"/>
          <a:ext cx="0" cy="0"/>
          <a:chOff x="0" y="0"/>
          <a:chExt cx="0" cy="0"/>
        </a:xfrm>
      </p:grpSpPr>
      <p:sp>
        <p:nvSpPr>
          <p:cNvPr id="2" name="Text 0"/>
          <p:cNvSpPr/>
          <p:nvPr/>
        </p:nvSpPr>
        <p:spPr>
          <a:xfrm>
            <a:off x="685800" y="685800"/>
            <a:ext cx="1463040" cy="32004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結論</a:t>
            </a:r>
            <a:endParaRPr lang="en-US" sz="1800" dirty="0"/>
          </a:p>
        </p:txBody>
      </p:sp>
      <p:sp>
        <p:nvSpPr>
          <p:cNvPr id="3" name="Text 1"/>
          <p:cNvSpPr/>
          <p:nvPr/>
        </p:nvSpPr>
        <p:spPr>
          <a:xfrm>
            <a:off x="822960" y="1600200"/>
            <a:ext cx="10607040" cy="1234440"/>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Yu Gothic" pitchFamily="34" charset="0"/>
                <a:ea typeface="Yu Gothic" pitchFamily="34" charset="-122"/>
                <a:cs typeface="Yu Gothic" pitchFamily="34" charset="-120"/>
              </a:rPr>
              <a:t>MedSafety Linkは、LINEを入口に患者の安否・症状・写真・位置情報を集約し、医療者が要対応患者を優先把握するための患者連絡支援基盤である。</a:t>
            </a:r>
            <a:endParaRPr lang="en-US" sz="2700" dirty="0"/>
          </a:p>
        </p:txBody>
      </p:sp>
      <p:sp>
        <p:nvSpPr>
          <p:cNvPr id="4" name="Shape 2"/>
          <p:cNvSpPr/>
          <p:nvPr/>
        </p:nvSpPr>
        <p:spPr>
          <a:xfrm>
            <a:off x="914400" y="3657600"/>
            <a:ext cx="2560320" cy="310896"/>
          </a:xfrm>
          <a:prstGeom prst="roundRect">
            <a:avLst>
              <a:gd name="adj" fmla="val 23529"/>
            </a:avLst>
          </a:prstGeom>
          <a:solidFill>
            <a:srgbClr val="DFF4ED"/>
          </a:solidFill>
          <a:ln w="12700">
            <a:solidFill>
              <a:srgbClr val="DFF4ED"/>
            </a:solidFill>
            <a:prstDash val="solid"/>
          </a:ln>
        </p:spPr>
      </p:sp>
      <p:sp>
        <p:nvSpPr>
          <p:cNvPr id="5" name="Text 3"/>
          <p:cNvSpPr/>
          <p:nvPr/>
        </p:nvSpPr>
        <p:spPr>
          <a:xfrm>
            <a:off x="987552" y="3726180"/>
            <a:ext cx="2414016" cy="137160"/>
          </a:xfrm>
          <a:prstGeom prst="rect">
            <a:avLst/>
          </a:prstGeom>
          <a:noFill/>
          <a:ln/>
        </p:spPr>
        <p:txBody>
          <a:bodyPr wrap="square" lIns="0" tIns="0" rIns="0" bIns="0" rtlCol="0" anchor="ctr"/>
          <a:lstStyle/>
          <a:p>
            <a:pPr algn="ctr" indent="0" marL="0">
              <a:buNone/>
            </a:pPr>
            <a:r>
              <a:rPr lang="en-US" sz="800" b="1" dirty="0">
                <a:solidFill>
                  <a:srgbClr val="166F77"/>
                </a:solidFill>
                <a:latin typeface="Yu Gothic" pitchFamily="34" charset="0"/>
                <a:ea typeface="Yu Gothic" pitchFamily="34" charset="-122"/>
                <a:cs typeface="Yu Gothic" pitchFamily="34" charset="-120"/>
              </a:rPr>
              <a:t>災害時の安否確認</a:t>
            </a:r>
            <a:endParaRPr lang="en-US" sz="800" dirty="0"/>
          </a:p>
        </p:txBody>
      </p:sp>
      <p:sp>
        <p:nvSpPr>
          <p:cNvPr id="6" name="Shape 4"/>
          <p:cNvSpPr/>
          <p:nvPr/>
        </p:nvSpPr>
        <p:spPr>
          <a:xfrm>
            <a:off x="4297680" y="3657600"/>
            <a:ext cx="2560320" cy="310896"/>
          </a:xfrm>
          <a:prstGeom prst="roundRect">
            <a:avLst>
              <a:gd name="adj" fmla="val 23529"/>
            </a:avLst>
          </a:prstGeom>
          <a:solidFill>
            <a:srgbClr val="EAF4F7"/>
          </a:solidFill>
          <a:ln w="12700">
            <a:solidFill>
              <a:srgbClr val="EAF4F7"/>
            </a:solidFill>
            <a:prstDash val="solid"/>
          </a:ln>
        </p:spPr>
      </p:sp>
      <p:sp>
        <p:nvSpPr>
          <p:cNvPr id="7" name="Text 5"/>
          <p:cNvSpPr/>
          <p:nvPr/>
        </p:nvSpPr>
        <p:spPr>
          <a:xfrm>
            <a:off x="4370832" y="3726180"/>
            <a:ext cx="241401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通常診療での症状把握</a:t>
            </a:r>
            <a:endParaRPr lang="en-US" sz="800" dirty="0"/>
          </a:p>
        </p:txBody>
      </p:sp>
      <p:sp>
        <p:nvSpPr>
          <p:cNvPr id="8" name="Shape 6"/>
          <p:cNvSpPr/>
          <p:nvPr/>
        </p:nvSpPr>
        <p:spPr>
          <a:xfrm>
            <a:off x="7680960" y="3657600"/>
            <a:ext cx="2560320" cy="310896"/>
          </a:xfrm>
          <a:prstGeom prst="roundRect">
            <a:avLst>
              <a:gd name="adj" fmla="val 23529"/>
            </a:avLst>
          </a:prstGeom>
          <a:solidFill>
            <a:srgbClr val="EAF4F7"/>
          </a:solidFill>
          <a:ln w="12700">
            <a:solidFill>
              <a:srgbClr val="EAF4F7"/>
            </a:solidFill>
            <a:prstDash val="solid"/>
          </a:ln>
        </p:spPr>
      </p:sp>
      <p:sp>
        <p:nvSpPr>
          <p:cNvPr id="9" name="Text 7"/>
          <p:cNvSpPr/>
          <p:nvPr/>
        </p:nvSpPr>
        <p:spPr>
          <a:xfrm>
            <a:off x="7754112" y="3726180"/>
            <a:ext cx="2414016" cy="137160"/>
          </a:xfrm>
          <a:prstGeom prst="rect">
            <a:avLst/>
          </a:prstGeom>
          <a:noFill/>
          <a:ln/>
        </p:spPr>
        <p:txBody>
          <a:bodyPr wrap="square" lIns="0" tIns="0" rIns="0" bIns="0" rtlCol="0" anchor="ctr"/>
          <a:lstStyle/>
          <a:p>
            <a:pPr algn="ctr" indent="0" marL="0">
              <a:buNone/>
            </a:pPr>
            <a:r>
              <a:rPr lang="en-US" sz="800" b="1" dirty="0">
                <a:solidFill>
                  <a:srgbClr val="185E98"/>
                </a:solidFill>
                <a:latin typeface="Yu Gothic" pitchFamily="34" charset="0"/>
                <a:ea typeface="Yu Gothic" pitchFamily="34" charset="-122"/>
                <a:cs typeface="Yu Gothic" pitchFamily="34" charset="-120"/>
              </a:rPr>
              <a:t>多施設・多領域への横展開</a:t>
            </a:r>
            <a:endParaRPr lang="en-US" sz="800" dirty="0"/>
          </a:p>
        </p:txBody>
      </p:sp>
      <p:sp>
        <p:nvSpPr>
          <p:cNvPr id="10" name="Text 8"/>
          <p:cNvSpPr/>
          <p:nvPr/>
        </p:nvSpPr>
        <p:spPr>
          <a:xfrm>
            <a:off x="914400" y="4983480"/>
            <a:ext cx="10332720" cy="411480"/>
          </a:xfrm>
          <a:prstGeom prst="rect">
            <a:avLst/>
          </a:prstGeom>
          <a:noFill/>
          <a:ln/>
        </p:spPr>
        <p:txBody>
          <a:bodyPr wrap="square" lIns="0" tIns="0" rIns="0" bIns="0" rtlCol="0" anchor="ctr"/>
          <a:lstStyle/>
          <a:p>
            <a:pPr algn="ctr" indent="0" marL="0">
              <a:buNone/>
            </a:pPr>
            <a:r>
              <a:rPr lang="en-US" sz="2200" b="1" dirty="0">
                <a:solidFill>
                  <a:srgbClr val="DFF4ED"/>
                </a:solidFill>
                <a:latin typeface="Yu Gothic" pitchFamily="34" charset="0"/>
                <a:ea typeface="Yu Gothic" pitchFamily="34" charset="-122"/>
                <a:cs typeface="Yu Gothic" pitchFamily="34" charset="-120"/>
              </a:rPr>
              <a:t>“連絡が来た人を探す” から “対応が必要な人から見る” へ</a:t>
            </a:r>
            <a:endParaRPr lang="en-US" sz="2200" dirty="0"/>
          </a:p>
        </p:txBody>
      </p:sp>
      <p:sp>
        <p:nvSpPr>
          <p:cNvPr id="11" name="Text 9"/>
          <p:cNvSpPr/>
          <p:nvPr/>
        </p:nvSpPr>
        <p:spPr>
          <a:xfrm>
            <a:off x="914400" y="6080760"/>
            <a:ext cx="5760720" cy="182880"/>
          </a:xfrm>
          <a:prstGeom prst="rect">
            <a:avLst/>
          </a:prstGeom>
          <a:noFill/>
          <a:ln/>
        </p:spPr>
        <p:txBody>
          <a:bodyPr wrap="square" lIns="0" tIns="0" rIns="0" bIns="0" rtlCol="0" anchor="ctr"/>
          <a:lstStyle/>
          <a:p>
            <a:pPr indent="0" marL="0">
              <a:buNone/>
            </a:pPr>
            <a:r>
              <a:rPr lang="en-US" sz="950" dirty="0">
                <a:solidFill>
                  <a:srgbClr val="EAF4F7"/>
                </a:solidFill>
                <a:latin typeface="Yu Gothic" pitchFamily="34" charset="0"/>
                <a:ea typeface="Yu Gothic" pitchFamily="34" charset="-122"/>
                <a:cs typeface="Yu Gothic" pitchFamily="34" charset="-120"/>
              </a:rPr>
              <a:t>熊本中央病院 糖尿病・内分泌・代謝内科　西田 健朗</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Kumamoto Chuo Hospital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LINEを活用した糖尿病患者安否・症状確認システム MedSafety Link</dc:title>
  <dc:subject>MedSafety Link conference presentation</dc:subject>
  <dc:creator>MedSafety Link</dc:creator>
  <cp:lastModifiedBy>MedSafety Link</cp:lastModifiedBy>
  <cp:revision>1</cp:revision>
  <dcterms:created xsi:type="dcterms:W3CDTF">2026-05-21T11:46:33Z</dcterms:created>
  <dcterms:modified xsi:type="dcterms:W3CDTF">2026-05-21T11:46:33Z</dcterms:modified>
</cp:coreProperties>
</file>